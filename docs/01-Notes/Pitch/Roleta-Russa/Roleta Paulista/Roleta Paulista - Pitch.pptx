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0" r:id="rId21"/>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8B0000"/>
          </a:solidFill>
          <a:ln w="12700">
            <a:solidFill>
              <a:srgbClr val="8B0000"/>
            </a:solidFill>
            <a:prstDash val="solid"/>
          </a:ln>
        </p:spPr>
      </p:sp>
      <p:sp>
        <p:nvSpPr>
          <p:cNvPr id="3" name="Text 1"/>
          <p:cNvSpPr/>
          <p:nvPr/>
        </p:nvSpPr>
        <p:spPr>
          <a:xfrm>
            <a:off x="822960" y="548640"/>
            <a:ext cx="10058400" cy="365760"/>
          </a:xfrm>
          <a:prstGeom prst="rect">
            <a:avLst/>
          </a:prstGeom>
          <a:noFill/>
          <a:ln/>
        </p:spPr>
        <p:txBody>
          <a:bodyPr wrap="square" lIns="0" tIns="0" rIns="0" bIns="0" rtlCol="0" anchor="ctr"/>
          <a:lstStyle/>
          <a:p>
            <a:pPr indent="0" marL="0">
              <a:buNone/>
            </a:pPr>
            <a:r>
              <a:rPr lang="en-US" sz="1100" b="1" spc="800" kern="0" dirty="0">
                <a:solidFill>
                  <a:srgbClr val="C9B68A"/>
                </a:solidFill>
                <a:latin typeface="Calibri" pitchFamily="34" charset="0"/>
                <a:ea typeface="Calibri" pitchFamily="34" charset="-122"/>
                <a:cs typeface="Calibri" pitchFamily="34" charset="-120"/>
              </a:rPr>
              <a:t>SUMMER TAVERN GAMES  •  PITCH V2  •  CORETO</a:t>
            </a:r>
            <a:endParaRPr lang="en-US" sz="1100" dirty="0"/>
          </a:p>
        </p:txBody>
      </p:sp>
      <p:sp>
        <p:nvSpPr>
          <p:cNvPr id="4" name="Text 2"/>
          <p:cNvSpPr/>
          <p:nvPr/>
        </p:nvSpPr>
        <p:spPr>
          <a:xfrm>
            <a:off x="822960" y="1645920"/>
            <a:ext cx="10058400" cy="1371600"/>
          </a:xfrm>
          <a:prstGeom prst="rect">
            <a:avLst/>
          </a:prstGeom>
          <a:noFill/>
          <a:ln/>
        </p:spPr>
        <p:txBody>
          <a:bodyPr wrap="square" lIns="0" tIns="0" rIns="0" bIns="0" rtlCol="0" anchor="ctr"/>
          <a:lstStyle/>
          <a:p>
            <a:pPr indent="0" marL="0">
              <a:buNone/>
            </a:pPr>
            <a:r>
              <a:rPr lang="en-US" sz="8400" b="1" dirty="0">
                <a:solidFill>
                  <a:srgbClr val="F0E2C1"/>
                </a:solidFill>
                <a:latin typeface="Georgia" pitchFamily="34" charset="0"/>
                <a:ea typeface="Georgia" pitchFamily="34" charset="-122"/>
                <a:cs typeface="Georgia" pitchFamily="34" charset="-120"/>
              </a:rPr>
              <a:t>Roleta Paulista</a:t>
            </a:r>
            <a:endParaRPr lang="en-US" sz="8400" dirty="0"/>
          </a:p>
        </p:txBody>
      </p:sp>
      <p:sp>
        <p:nvSpPr>
          <p:cNvPr id="5" name="Text 3"/>
          <p:cNvSpPr/>
          <p:nvPr/>
        </p:nvSpPr>
        <p:spPr>
          <a:xfrm>
            <a:off x="822960" y="3017520"/>
            <a:ext cx="10058400" cy="548640"/>
          </a:xfrm>
          <a:prstGeom prst="rect">
            <a:avLst/>
          </a:prstGeom>
          <a:noFill/>
          <a:ln/>
        </p:spPr>
        <p:txBody>
          <a:bodyPr wrap="square" lIns="0" tIns="0" rIns="0" bIns="0" rtlCol="0" anchor="ctr"/>
          <a:lstStyle/>
          <a:p>
            <a:pPr indent="0" marL="0">
              <a:buNone/>
            </a:pPr>
            <a:r>
              <a:rPr lang="en-US" sz="2400" i="1" dirty="0">
                <a:solidFill>
                  <a:srgbClr val="C9B68A"/>
                </a:solidFill>
                <a:latin typeface="Georgia" pitchFamily="34" charset="0"/>
                <a:ea typeface="Georgia" pitchFamily="34" charset="-122"/>
                <a:cs typeface="Georgia" pitchFamily="34" charset="-120"/>
              </a:rPr>
              <a:t>uma tragédia brasileira em três corridas</a:t>
            </a:r>
            <a:endParaRPr lang="en-US" sz="2400" dirty="0"/>
          </a:p>
        </p:txBody>
      </p:sp>
      <p:sp>
        <p:nvSpPr>
          <p:cNvPr id="6" name="Text 4"/>
          <p:cNvSpPr/>
          <p:nvPr/>
        </p:nvSpPr>
        <p:spPr>
          <a:xfrm>
            <a:off x="822960" y="3840480"/>
            <a:ext cx="10058400" cy="731520"/>
          </a:xfrm>
          <a:prstGeom prst="rect">
            <a:avLst/>
          </a:prstGeom>
          <a:noFill/>
          <a:ln/>
        </p:spPr>
        <p:txBody>
          <a:bodyPr wrap="square" lIns="0" tIns="0" rIns="0" bIns="0" rtlCol="0" anchor="ctr"/>
          <a:lstStyle/>
          <a:p>
            <a:pPr indent="0" marL="0">
              <a:buNone/>
            </a:pPr>
            <a:r>
              <a:rPr lang="en-US" sz="1500" i="1" dirty="0">
                <a:solidFill>
                  <a:srgbClr val="F0E2C1"/>
                </a:solidFill>
                <a:latin typeface="Georgia" pitchFamily="34" charset="0"/>
                <a:ea typeface="Georgia" pitchFamily="34" charset="-122"/>
                <a:cs typeface="Georgia" pitchFamily="34" charset="-120"/>
              </a:rPr>
              <a:t>"Acaso é o que se diz quando já se desistiu. O amor é a recusa em deixar o acaso ter a última palavra."</a:t>
            </a:r>
            <a:endParaRPr lang="en-US" sz="1500" dirty="0"/>
          </a:p>
        </p:txBody>
      </p:sp>
      <p:sp>
        <p:nvSpPr>
          <p:cNvPr id="7" name="Shape 5"/>
          <p:cNvSpPr/>
          <p:nvPr/>
        </p:nvSpPr>
        <p:spPr>
          <a:xfrm>
            <a:off x="822960" y="4937760"/>
            <a:ext cx="10515600" cy="1371600"/>
          </a:xfrm>
          <a:prstGeom prst="rect">
            <a:avLst/>
          </a:prstGeom>
          <a:solidFill>
            <a:srgbClr val="332A22"/>
          </a:solidFill>
          <a:ln w="12700">
            <a:solidFill>
              <a:srgbClr val="2A221B"/>
            </a:solidFill>
            <a:prstDash val="solid"/>
          </a:ln>
        </p:spPr>
      </p:sp>
      <p:sp>
        <p:nvSpPr>
          <p:cNvPr id="8" name="Text 6"/>
          <p:cNvSpPr/>
          <p:nvPr/>
        </p:nvSpPr>
        <p:spPr>
          <a:xfrm>
            <a:off x="1005840" y="5074920"/>
            <a:ext cx="10149840" cy="1097280"/>
          </a:xfrm>
          <a:prstGeom prst="rect">
            <a:avLst/>
          </a:prstGeom>
          <a:noFill/>
          <a:ln/>
        </p:spPr>
        <p:txBody>
          <a:bodyPr wrap="square" lIns="0" tIns="0" rIns="0" bIns="0" rtlCol="0" anchor="ctr"/>
          <a:lstStyle/>
          <a:p>
            <a:pPr indent="0" marL="0">
              <a:buNone/>
            </a:pPr>
            <a:r>
              <a:rPr lang="en-US" sz="1300" b="1" dirty="0">
                <a:solidFill>
                  <a:srgbClr val="B22222"/>
                </a:solidFill>
                <a:latin typeface="Calibri" pitchFamily="34" charset="0"/>
                <a:ea typeface="Calibri" pitchFamily="34" charset="-122"/>
                <a:cs typeface="Calibri" pitchFamily="34" charset="-120"/>
              </a:rPr>
              <a:t xml:space="preserve">Engine: </a:t>
            </a:r>
            <a:pPr indent="0" marL="0">
              <a:buNone/>
            </a:pPr>
            <a:r>
              <a:rPr lang="en-US" sz="1300" dirty="0">
                <a:solidFill>
                  <a:srgbClr val="F0E2C1"/>
                </a:solidFill>
                <a:latin typeface="Calibri" pitchFamily="34" charset="0"/>
                <a:ea typeface="Calibri" pitchFamily="34" charset="-122"/>
                <a:cs typeface="Calibri" pitchFamily="34" charset="-120"/>
              </a:rPr>
              <a:t xml:space="preserve">RPG Maker MZ (HTML5 web-playable)      </a:t>
            </a:r>
            <a:pPr indent="0" marL="0">
              <a:buNone/>
            </a:pPr>
            <a:r>
              <a:rPr lang="en-US" sz="1300" b="1" dirty="0">
                <a:solidFill>
                  <a:srgbClr val="B22222"/>
                </a:solidFill>
                <a:latin typeface="Calibri" pitchFamily="34" charset="0"/>
                <a:ea typeface="Calibri" pitchFamily="34" charset="-122"/>
                <a:cs typeface="Calibri" pitchFamily="34" charset="-120"/>
              </a:rPr>
              <a:t xml:space="preserve">Formato: </a:t>
            </a:r>
            <a:endParaRPr lang="en-US" sz="1300" dirty="0"/>
          </a:p>
          <a:p>
            <a:pPr indent="0" marL="0">
              <a:buNone/>
            </a:pPr>
            <a:r>
              <a:rPr lang="en-US" sz="1300" dirty="0">
                <a:solidFill>
                  <a:srgbClr val="F0E2C1"/>
                </a:solidFill>
                <a:latin typeface="Calibri" pitchFamily="34" charset="0"/>
                <a:ea typeface="Calibri" pitchFamily="34" charset="-122"/>
                <a:cs typeface="Calibri" pitchFamily="34" charset="-120"/>
              </a:rPr>
              <a:t xml:space="preserve">Visual Novel + minigame de corrida (timer-based)      </a:t>
            </a:r>
            <a:pPr indent="0" marL="0">
              <a:buNone/>
            </a:pPr>
            <a:r>
              <a:rPr lang="en-US" sz="1300" b="1" dirty="0">
                <a:solidFill>
                  <a:srgbClr val="B22222"/>
                </a:solidFill>
                <a:latin typeface="Calibri" pitchFamily="34" charset="0"/>
                <a:ea typeface="Calibri" pitchFamily="34" charset="-122"/>
                <a:cs typeface="Calibri" pitchFamily="34" charset="-120"/>
              </a:rPr>
              <a:t xml:space="preserve">Inspiração: </a:t>
            </a:r>
            <a:endParaRPr lang="en-US" sz="1300" dirty="0"/>
          </a:p>
          <a:p>
            <a:pPr indent="0" marL="0">
              <a:buNone/>
            </a:pPr>
            <a:r>
              <a:rPr lang="en-US" sz="1300" dirty="0">
                <a:solidFill>
                  <a:srgbClr val="F0E2C1"/>
                </a:solidFill>
                <a:latin typeface="Calibri" pitchFamily="34" charset="0"/>
                <a:ea typeface="Calibri" pitchFamily="34" charset="-122"/>
                <a:cs typeface="Calibri" pitchFamily="34" charset="-120"/>
              </a:rPr>
              <a:t xml:space="preserve">"Dezesseis" — Legião Urbana (1986)      </a:t>
            </a:r>
            <a:pPr indent="0" marL="0">
              <a:buNone/>
            </a:pPr>
            <a:r>
              <a:rPr lang="en-US" sz="1300" b="1" dirty="0">
                <a:solidFill>
                  <a:srgbClr val="B22222"/>
                </a:solidFill>
                <a:latin typeface="Calibri" pitchFamily="34" charset="0"/>
                <a:ea typeface="Calibri" pitchFamily="34" charset="-122"/>
                <a:cs typeface="Calibri" pitchFamily="34" charset="-120"/>
              </a:rPr>
              <a:t xml:space="preserve">Cronograma: </a:t>
            </a:r>
            <a:endParaRPr lang="en-US" sz="1300" dirty="0"/>
          </a:p>
          <a:p>
            <a:pPr indent="0" marL="0">
              <a:buNone/>
            </a:pPr>
            <a:r>
              <a:rPr lang="en-US" sz="1300" dirty="0">
                <a:solidFill>
                  <a:srgbClr val="F0E2C1"/>
                </a:solidFill>
                <a:latin typeface="Calibri" pitchFamily="34" charset="0"/>
                <a:ea typeface="Calibri" pitchFamily="34" charset="-122"/>
                <a:cs typeface="Calibri" pitchFamily="34" charset="-120"/>
              </a:rPr>
              <a:t>MVP em 1 semana + stretch goals</a:t>
            </a:r>
            <a:endParaRPr lang="en-US" sz="1300" dirty="0"/>
          </a:p>
        </p:txBody>
      </p:sp>
      <p:sp>
        <p:nvSpPr>
          <p:cNvPr id="9" name="Text 7"/>
          <p:cNvSpPr/>
          <p:nvPr/>
        </p:nvSpPr>
        <p:spPr>
          <a:xfrm>
            <a:off x="822960" y="6446520"/>
            <a:ext cx="10058400" cy="274320"/>
          </a:xfrm>
          <a:prstGeom prst="rect">
            <a:avLst/>
          </a:prstGeom>
          <a:noFill/>
          <a:ln/>
        </p:spPr>
        <p:txBody>
          <a:bodyPr wrap="square" lIns="0" tIns="0" rIns="0" bIns="0" rtlCol="0" anchor="ctr"/>
          <a:lstStyle/>
          <a:p>
            <a:pPr indent="0" marL="0">
              <a:buNone/>
            </a:pPr>
            <a:r>
              <a:rPr lang="en-US" sz="1000" i="1" dirty="0">
                <a:solidFill>
                  <a:srgbClr val="B22222"/>
                </a:solidFill>
                <a:latin typeface="Calibri" pitchFamily="34" charset="0"/>
                <a:ea typeface="Calibri" pitchFamily="34" charset="-122"/>
                <a:cs typeface="Calibri" pitchFamily="34" charset="-120"/>
              </a:rPr>
              <a:t>Trigger warning: suicídio adolescente, depressão e perda.  CVV: 188.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2  •  TL;DR</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Visão de uma frase</a:t>
            </a:r>
            <a:endParaRPr lang="en-US" sz="3400" dirty="0"/>
          </a:p>
        </p:txBody>
      </p:sp>
      <p:sp>
        <p:nvSpPr>
          <p:cNvPr id="5" name="Shape 3"/>
          <p:cNvSpPr/>
          <p:nvPr/>
        </p:nvSpPr>
        <p:spPr>
          <a:xfrm>
            <a:off x="822960" y="1828800"/>
            <a:ext cx="10515600" cy="2377440"/>
          </a:xfrm>
          <a:prstGeom prst="rect">
            <a:avLst/>
          </a:prstGeom>
          <a:solidFill>
            <a:srgbClr val="332A22"/>
          </a:solidFill>
          <a:ln w="12700">
            <a:solidFill>
              <a:srgbClr val="2A221B"/>
            </a:solidFill>
            <a:prstDash val="solid"/>
          </a:ln>
        </p:spPr>
      </p:sp>
      <p:sp>
        <p:nvSpPr>
          <p:cNvPr id="6" name="Text 4"/>
          <p:cNvSpPr/>
          <p:nvPr/>
        </p:nvSpPr>
        <p:spPr>
          <a:xfrm>
            <a:off x="1097280" y="2011680"/>
            <a:ext cx="9966960" cy="2011680"/>
          </a:xfrm>
          <a:prstGeom prst="rect">
            <a:avLst/>
          </a:prstGeom>
          <a:noFill/>
          <a:ln/>
        </p:spPr>
        <p:txBody>
          <a:bodyPr wrap="square" lIns="0" tIns="0" rIns="0" bIns="0" rtlCol="0" anchor="ctr"/>
          <a:lstStyle/>
          <a:p>
            <a:pPr indent="0" marL="0">
              <a:buNone/>
            </a:pPr>
            <a:r>
              <a:rPr lang="en-US" sz="2200" i="1" dirty="0">
                <a:solidFill>
                  <a:srgbClr val="F0E2C1"/>
                </a:solidFill>
                <a:latin typeface="Georgia" pitchFamily="34" charset="0"/>
                <a:ea typeface="Georgia" pitchFamily="34" charset="-122"/>
                <a:cs typeface="Georgia" pitchFamily="34" charset="-120"/>
              </a:rPr>
              <a:t>"Você não é o João. Você é o melhor amigo dele. Você tem três corridas pra perceber que ele quer/vai morrer — e uma chance de impedir. Mas para salvar alguém que você ama, talvez seja preciso roubar a escolha dele."</a:t>
            </a:r>
            <a:endParaRPr lang="en-US" sz="2200" dirty="0"/>
          </a:p>
        </p:txBody>
      </p:sp>
      <p:sp>
        <p:nvSpPr>
          <p:cNvPr id="7" name="Shape 5"/>
          <p:cNvSpPr/>
          <p:nvPr/>
        </p:nvSpPr>
        <p:spPr>
          <a:xfrm>
            <a:off x="822960" y="4480560"/>
            <a:ext cx="3383280" cy="1554480"/>
          </a:xfrm>
          <a:prstGeom prst="rect">
            <a:avLst/>
          </a:prstGeom>
          <a:solidFill>
            <a:srgbClr val="3F342B"/>
          </a:solidFill>
          <a:ln w="12700">
            <a:solidFill>
              <a:srgbClr val="2A221B"/>
            </a:solidFill>
            <a:prstDash val="solid"/>
          </a:ln>
        </p:spPr>
      </p:sp>
      <p:sp>
        <p:nvSpPr>
          <p:cNvPr id="8" name="Text 6"/>
          <p:cNvSpPr/>
          <p:nvPr/>
        </p:nvSpPr>
        <p:spPr>
          <a:xfrm>
            <a:off x="960120" y="4526280"/>
            <a:ext cx="914400" cy="365760"/>
          </a:xfrm>
          <a:prstGeom prst="rect">
            <a:avLst/>
          </a:prstGeom>
          <a:noFill/>
          <a:ln/>
        </p:spPr>
        <p:txBody>
          <a:bodyPr wrap="square" lIns="0" tIns="0" rIns="0" bIns="0" rtlCol="0" anchor="ctr"/>
          <a:lstStyle/>
          <a:p>
            <a:pPr indent="0" marL="0">
              <a:buNone/>
            </a:pPr>
            <a:r>
              <a:rPr lang="en-US" sz="2200" b="1" dirty="0">
                <a:solidFill>
                  <a:srgbClr val="B22222"/>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960120" y="4892040"/>
            <a:ext cx="3108960" cy="320040"/>
          </a:xfrm>
          <a:prstGeom prst="rect">
            <a:avLst/>
          </a:prstGeom>
          <a:noFill/>
          <a:ln/>
        </p:spPr>
        <p:txBody>
          <a:bodyPr wrap="square" lIns="0" tIns="0" rIns="0" bIns="0" rtlCol="0" anchor="ctr"/>
          <a:lstStyle/>
          <a:p>
            <a:pPr indent="0" marL="0">
              <a:buNone/>
            </a:pPr>
            <a:r>
              <a:rPr lang="en-US" sz="1500" b="1" dirty="0">
                <a:solidFill>
                  <a:srgbClr val="F0E2C1"/>
                </a:solidFill>
                <a:latin typeface="Georgia" pitchFamily="34" charset="0"/>
                <a:ea typeface="Georgia" pitchFamily="34" charset="-122"/>
                <a:cs typeface="Georgia" pitchFamily="34" charset="-120"/>
              </a:rPr>
              <a:t>Três corridas</a:t>
            </a:r>
            <a:endParaRPr lang="en-US" sz="1500" dirty="0"/>
          </a:p>
        </p:txBody>
      </p:sp>
      <p:sp>
        <p:nvSpPr>
          <p:cNvPr id="10" name="Text 8"/>
          <p:cNvSpPr/>
          <p:nvPr/>
        </p:nvSpPr>
        <p:spPr>
          <a:xfrm>
            <a:off x="960120" y="5212080"/>
            <a:ext cx="3108960" cy="82296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Lenda → Rachadura → Abismo. Arco fixo, RNG honesto nas curvas esquerdas.</a:t>
            </a:r>
            <a:endParaRPr lang="en-US" sz="1100" dirty="0"/>
          </a:p>
        </p:txBody>
      </p:sp>
      <p:sp>
        <p:nvSpPr>
          <p:cNvPr id="11" name="Shape 9"/>
          <p:cNvSpPr/>
          <p:nvPr/>
        </p:nvSpPr>
        <p:spPr>
          <a:xfrm>
            <a:off x="4389120" y="4480560"/>
            <a:ext cx="3383280" cy="1554480"/>
          </a:xfrm>
          <a:prstGeom prst="rect">
            <a:avLst/>
          </a:prstGeom>
          <a:solidFill>
            <a:srgbClr val="3F342B"/>
          </a:solidFill>
          <a:ln w="12700">
            <a:solidFill>
              <a:srgbClr val="2A221B"/>
            </a:solidFill>
            <a:prstDash val="solid"/>
          </a:ln>
        </p:spPr>
      </p:sp>
      <p:sp>
        <p:nvSpPr>
          <p:cNvPr id="12" name="Text 10"/>
          <p:cNvSpPr/>
          <p:nvPr/>
        </p:nvSpPr>
        <p:spPr>
          <a:xfrm>
            <a:off x="4526280" y="4526280"/>
            <a:ext cx="914400" cy="365760"/>
          </a:xfrm>
          <a:prstGeom prst="rect">
            <a:avLst/>
          </a:prstGeom>
          <a:noFill/>
          <a:ln/>
        </p:spPr>
        <p:txBody>
          <a:bodyPr wrap="square" lIns="0" tIns="0" rIns="0" bIns="0" rtlCol="0" anchor="ctr"/>
          <a:lstStyle/>
          <a:p>
            <a:pPr indent="0" marL="0">
              <a:buNone/>
            </a:pPr>
            <a:r>
              <a:rPr lang="en-US" sz="2200" b="1" dirty="0">
                <a:solidFill>
                  <a:srgbClr val="B22222"/>
                </a:solidFill>
                <a:latin typeface="Georgia" pitchFamily="34" charset="0"/>
                <a:ea typeface="Georgia" pitchFamily="34" charset="-122"/>
                <a:cs typeface="Georgia" pitchFamily="34" charset="-120"/>
              </a:rPr>
              <a:t>02</a:t>
            </a:r>
            <a:endParaRPr lang="en-US" sz="2200" dirty="0"/>
          </a:p>
        </p:txBody>
      </p:sp>
      <p:sp>
        <p:nvSpPr>
          <p:cNvPr id="13" name="Text 11"/>
          <p:cNvSpPr/>
          <p:nvPr/>
        </p:nvSpPr>
        <p:spPr>
          <a:xfrm>
            <a:off x="4526280" y="4892040"/>
            <a:ext cx="3108960" cy="320040"/>
          </a:xfrm>
          <a:prstGeom prst="rect">
            <a:avLst/>
          </a:prstGeom>
          <a:noFill/>
          <a:ln/>
        </p:spPr>
        <p:txBody>
          <a:bodyPr wrap="square" lIns="0" tIns="0" rIns="0" bIns="0" rtlCol="0" anchor="ctr"/>
          <a:lstStyle/>
          <a:p>
            <a:pPr indent="0" marL="0">
              <a:buNone/>
            </a:pPr>
            <a:r>
              <a:rPr lang="en-US" sz="1500" b="1" dirty="0">
                <a:solidFill>
                  <a:srgbClr val="F0E2C1"/>
                </a:solidFill>
                <a:latin typeface="Georgia" pitchFamily="34" charset="0"/>
                <a:ea typeface="Georgia" pitchFamily="34" charset="-122"/>
                <a:cs typeface="Georgia" pitchFamily="34" charset="-120"/>
              </a:rPr>
              <a:t>Cenas VN entre corridas</a:t>
            </a:r>
            <a:endParaRPr lang="en-US" sz="1500" dirty="0"/>
          </a:p>
        </p:txBody>
      </p:sp>
      <p:sp>
        <p:nvSpPr>
          <p:cNvPr id="14" name="Text 12"/>
          <p:cNvSpPr/>
          <p:nvPr/>
        </p:nvSpPr>
        <p:spPr>
          <a:xfrm>
            <a:off x="4526280" y="5212080"/>
            <a:ext cx="3108960" cy="82296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3 locais simbólicos. Diálogo com João. Acumula ConcernScore oculto.</a:t>
            </a:r>
            <a:endParaRPr lang="en-US" sz="1100" dirty="0"/>
          </a:p>
        </p:txBody>
      </p:sp>
      <p:sp>
        <p:nvSpPr>
          <p:cNvPr id="15" name="Shape 13"/>
          <p:cNvSpPr/>
          <p:nvPr/>
        </p:nvSpPr>
        <p:spPr>
          <a:xfrm>
            <a:off x="7955280" y="4480560"/>
            <a:ext cx="3383280" cy="1554480"/>
          </a:xfrm>
          <a:prstGeom prst="rect">
            <a:avLst/>
          </a:prstGeom>
          <a:solidFill>
            <a:srgbClr val="3F342B"/>
          </a:solidFill>
          <a:ln w="12700">
            <a:solidFill>
              <a:srgbClr val="2A221B"/>
            </a:solidFill>
            <a:prstDash val="solid"/>
          </a:ln>
        </p:spPr>
      </p:sp>
      <p:sp>
        <p:nvSpPr>
          <p:cNvPr id="16" name="Text 14"/>
          <p:cNvSpPr/>
          <p:nvPr/>
        </p:nvSpPr>
        <p:spPr>
          <a:xfrm>
            <a:off x="8092440" y="4526280"/>
            <a:ext cx="914400" cy="365760"/>
          </a:xfrm>
          <a:prstGeom prst="rect">
            <a:avLst/>
          </a:prstGeom>
          <a:noFill/>
          <a:ln/>
        </p:spPr>
        <p:txBody>
          <a:bodyPr wrap="square" lIns="0" tIns="0" rIns="0" bIns="0" rtlCol="0" anchor="ctr"/>
          <a:lstStyle/>
          <a:p>
            <a:pPr indent="0" marL="0">
              <a:buNone/>
            </a:pPr>
            <a:r>
              <a:rPr lang="en-US" sz="2200" b="1" dirty="0">
                <a:solidFill>
                  <a:srgbClr val="B22222"/>
                </a:solidFill>
                <a:latin typeface="Georgia" pitchFamily="34" charset="0"/>
                <a:ea typeface="Georgia" pitchFamily="34" charset="-122"/>
                <a:cs typeface="Georgia" pitchFamily="34" charset="-120"/>
              </a:rPr>
              <a:t>03</a:t>
            </a:r>
            <a:endParaRPr lang="en-US" sz="2200" dirty="0"/>
          </a:p>
        </p:txBody>
      </p:sp>
      <p:sp>
        <p:nvSpPr>
          <p:cNvPr id="17" name="Text 15"/>
          <p:cNvSpPr/>
          <p:nvPr/>
        </p:nvSpPr>
        <p:spPr>
          <a:xfrm>
            <a:off x="8092440" y="4892040"/>
            <a:ext cx="3108960" cy="320040"/>
          </a:xfrm>
          <a:prstGeom prst="rect">
            <a:avLst/>
          </a:prstGeom>
          <a:noFill/>
          <a:ln/>
        </p:spPr>
        <p:txBody>
          <a:bodyPr wrap="square" lIns="0" tIns="0" rIns="0" bIns="0" rtlCol="0" anchor="ctr"/>
          <a:lstStyle/>
          <a:p>
            <a:pPr indent="0" marL="0">
              <a:buNone/>
            </a:pPr>
            <a:r>
              <a:rPr lang="en-US" sz="1500" b="1" dirty="0">
                <a:solidFill>
                  <a:srgbClr val="F0E2C1"/>
                </a:solidFill>
                <a:latin typeface="Georgia" pitchFamily="34" charset="0"/>
                <a:ea typeface="Georgia" pitchFamily="34" charset="-122"/>
                <a:cs typeface="Georgia" pitchFamily="34" charset="-120"/>
              </a:rPr>
              <a:t>Final escondido</a:t>
            </a:r>
            <a:endParaRPr lang="en-US" sz="1500" dirty="0"/>
          </a:p>
        </p:txBody>
      </p:sp>
      <p:sp>
        <p:nvSpPr>
          <p:cNvPr id="18" name="Text 16"/>
          <p:cNvSpPr/>
          <p:nvPr/>
        </p:nvSpPr>
        <p:spPr>
          <a:xfrm>
            <a:off x="8092440" y="5212080"/>
            <a:ext cx="3108960" cy="82296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Se você perceber os sinais a tempo, pode sabotar o Opala e impedir a morte.</a:t>
            </a:r>
            <a:endParaRPr lang="en-US" sz="1100" dirty="0"/>
          </a:p>
        </p:txBody>
      </p:sp>
      <p:sp>
        <p:nvSpPr>
          <p:cNvPr id="19"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20" name="Text 18"/>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3  •  IDENTIDADE</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O que o jogo é, em uma tabela</a:t>
            </a:r>
            <a:endParaRPr lang="en-US" sz="3400" dirty="0"/>
          </a:p>
        </p:txBody>
      </p:sp>
      <p:sp>
        <p:nvSpPr>
          <p:cNvPr id="5" name="Text 3"/>
          <p:cNvSpPr/>
          <p:nvPr/>
        </p:nvSpPr>
        <p:spPr>
          <a:xfrm>
            <a:off x="822960" y="1737360"/>
            <a:ext cx="2194560" cy="320040"/>
          </a:xfrm>
          <a:prstGeom prst="rect">
            <a:avLst/>
          </a:prstGeom>
          <a:noFill/>
          <a:ln/>
        </p:spPr>
        <p:txBody>
          <a:bodyPr wrap="square" lIns="0" tIns="0" rIns="0" bIns="0" rtlCol="0" anchor="ctr"/>
          <a:lstStyle/>
          <a:p>
            <a:pPr indent="0" marL="0">
              <a:buNone/>
            </a:pPr>
            <a:r>
              <a:rPr lang="en-US" sz="1100" b="1" spc="300" kern="0" dirty="0">
                <a:solidFill>
                  <a:srgbClr val="B22222"/>
                </a:solidFill>
                <a:latin typeface="Calibri" pitchFamily="34" charset="0"/>
                <a:ea typeface="Calibri" pitchFamily="34" charset="-122"/>
                <a:cs typeface="Calibri" pitchFamily="34" charset="-120"/>
              </a:rPr>
              <a:t>Eixo</a:t>
            </a:r>
            <a:endParaRPr lang="en-US" sz="1100" dirty="0"/>
          </a:p>
        </p:txBody>
      </p:sp>
      <p:sp>
        <p:nvSpPr>
          <p:cNvPr id="6" name="Text 4"/>
          <p:cNvSpPr/>
          <p:nvPr/>
        </p:nvSpPr>
        <p:spPr>
          <a:xfrm>
            <a:off x="3017520" y="1737360"/>
            <a:ext cx="4480560" cy="320040"/>
          </a:xfrm>
          <a:prstGeom prst="rect">
            <a:avLst/>
          </a:prstGeom>
          <a:noFill/>
          <a:ln/>
        </p:spPr>
        <p:txBody>
          <a:bodyPr wrap="square" lIns="0" tIns="0" rIns="0" bIns="0" rtlCol="0" anchor="ctr"/>
          <a:lstStyle/>
          <a:p>
            <a:pPr indent="0" marL="0">
              <a:buNone/>
            </a:pPr>
            <a:r>
              <a:rPr lang="en-US" sz="1100" b="1" spc="300" kern="0" dirty="0">
                <a:solidFill>
                  <a:srgbClr val="B22222"/>
                </a:solidFill>
                <a:latin typeface="Calibri" pitchFamily="34" charset="0"/>
                <a:ea typeface="Calibri" pitchFamily="34" charset="-122"/>
                <a:cs typeface="Calibri" pitchFamily="34" charset="-120"/>
              </a:rPr>
              <a:t>Decisão</a:t>
            </a:r>
            <a:endParaRPr lang="en-US" sz="1100" dirty="0"/>
          </a:p>
        </p:txBody>
      </p:sp>
      <p:sp>
        <p:nvSpPr>
          <p:cNvPr id="7" name="Shape 5"/>
          <p:cNvSpPr/>
          <p:nvPr/>
        </p:nvSpPr>
        <p:spPr>
          <a:xfrm>
            <a:off x="822960" y="2103120"/>
            <a:ext cx="6675120" cy="0"/>
          </a:xfrm>
          <a:prstGeom prst="line">
            <a:avLst/>
          </a:prstGeom>
          <a:noFill/>
          <a:ln w="12700">
            <a:solidFill>
              <a:srgbClr val="332A22"/>
            </a:solidFill>
            <a:prstDash val="solid"/>
          </a:ln>
        </p:spPr>
      </p:sp>
      <p:sp>
        <p:nvSpPr>
          <p:cNvPr id="8" name="Text 6"/>
          <p:cNvSpPr/>
          <p:nvPr/>
        </p:nvSpPr>
        <p:spPr>
          <a:xfrm>
            <a:off x="822960" y="2194560"/>
            <a:ext cx="2194560" cy="640080"/>
          </a:xfrm>
          <a:prstGeom prst="rect">
            <a:avLst/>
          </a:prstGeom>
          <a:noFill/>
          <a:ln/>
        </p:spPr>
        <p:txBody>
          <a:bodyPr wrap="square" lIns="0" tIns="0" rIns="0" bIns="0" rtlCol="0" anchor="t"/>
          <a:lstStyle/>
          <a:p>
            <a:pPr indent="0" marL="0">
              <a:buNone/>
            </a:pPr>
            <a:r>
              <a:rPr lang="en-US" sz="1100" b="1" dirty="0">
                <a:solidFill>
                  <a:srgbClr val="F0E2C1"/>
                </a:solidFill>
                <a:latin typeface="Calibri" pitchFamily="34" charset="0"/>
                <a:ea typeface="Calibri" pitchFamily="34" charset="-122"/>
                <a:cs typeface="Calibri" pitchFamily="34" charset="-120"/>
              </a:rPr>
              <a:t>Tema-mãe</a:t>
            </a:r>
            <a:endParaRPr lang="en-US" sz="1100" dirty="0"/>
          </a:p>
        </p:txBody>
      </p:sp>
      <p:sp>
        <p:nvSpPr>
          <p:cNvPr id="9" name="Text 7"/>
          <p:cNvSpPr/>
          <p:nvPr/>
        </p:nvSpPr>
        <p:spPr>
          <a:xfrm>
            <a:off x="3017520" y="2194560"/>
            <a:ext cx="4480560" cy="640080"/>
          </a:xfrm>
          <a:prstGeom prst="rect">
            <a:avLst/>
          </a:prstGeom>
          <a:noFill/>
          <a:ln/>
        </p:spPr>
        <p:txBody>
          <a:bodyPr wrap="square" lIns="0" tIns="0" rIns="0" bIns="0" rtlCol="0" anchor="t"/>
          <a:lstStyle/>
          <a:p>
            <a:pPr indent="0" marL="0">
              <a:buNone/>
            </a:pPr>
            <a:r>
              <a:rPr lang="en-US" sz="1100" dirty="0">
                <a:solidFill>
                  <a:srgbClr val="C9B68A"/>
                </a:solidFill>
                <a:latin typeface="Calibri" pitchFamily="34" charset="0"/>
                <a:ea typeface="Calibri" pitchFamily="34" charset="-122"/>
                <a:cs typeface="Calibri" pitchFamily="34" charset="-120"/>
              </a:rPr>
              <a:t>"Dezesseis" — Legião Urbana (1986). Tragédia adolescente de racha em Brasília.</a:t>
            </a:r>
            <a:endParaRPr lang="en-US" sz="1100" dirty="0"/>
          </a:p>
        </p:txBody>
      </p:sp>
      <p:sp>
        <p:nvSpPr>
          <p:cNvPr id="10" name="Text 8"/>
          <p:cNvSpPr/>
          <p:nvPr/>
        </p:nvSpPr>
        <p:spPr>
          <a:xfrm>
            <a:off x="822960" y="2880360"/>
            <a:ext cx="2194560" cy="640080"/>
          </a:xfrm>
          <a:prstGeom prst="rect">
            <a:avLst/>
          </a:prstGeom>
          <a:noFill/>
          <a:ln/>
        </p:spPr>
        <p:txBody>
          <a:bodyPr wrap="square" lIns="0" tIns="0" rIns="0" bIns="0" rtlCol="0" anchor="t"/>
          <a:lstStyle/>
          <a:p>
            <a:pPr indent="0" marL="0">
              <a:buNone/>
            </a:pPr>
            <a:r>
              <a:rPr lang="en-US" sz="1100" b="1" dirty="0">
                <a:solidFill>
                  <a:srgbClr val="F0E2C1"/>
                </a:solidFill>
                <a:latin typeface="Calibri" pitchFamily="34" charset="0"/>
                <a:ea typeface="Calibri" pitchFamily="34" charset="-122"/>
                <a:cs typeface="Calibri" pitchFamily="34" charset="-120"/>
              </a:rPr>
              <a:t>Sub-ângulo</a:t>
            </a:r>
            <a:endParaRPr lang="en-US" sz="1100" dirty="0"/>
          </a:p>
        </p:txBody>
      </p:sp>
      <p:sp>
        <p:nvSpPr>
          <p:cNvPr id="11" name="Text 9"/>
          <p:cNvSpPr/>
          <p:nvPr/>
        </p:nvSpPr>
        <p:spPr>
          <a:xfrm>
            <a:off x="3017520" y="2880360"/>
            <a:ext cx="4480560" cy="640080"/>
          </a:xfrm>
          <a:prstGeom prst="rect">
            <a:avLst/>
          </a:prstGeom>
          <a:noFill/>
          <a:ln/>
        </p:spPr>
        <p:txBody>
          <a:bodyPr wrap="square" lIns="0" tIns="0" rIns="0" bIns="0" rtlCol="0" anchor="t"/>
          <a:lstStyle/>
          <a:p>
            <a:pPr indent="0" marL="0">
              <a:buNone/>
            </a:pPr>
            <a:r>
              <a:rPr lang="en-US" sz="1100" dirty="0">
                <a:solidFill>
                  <a:srgbClr val="C9B68A"/>
                </a:solidFill>
                <a:latin typeface="Calibri" pitchFamily="34" charset="0"/>
                <a:ea typeface="Calibri" pitchFamily="34" charset="-122"/>
                <a:cs typeface="Calibri" pitchFamily="34" charset="-120"/>
              </a:rPr>
              <a:t>Roleta paulista como expressão — aposta de vida em cruzamento. Mas o verdadeiro tema é a amizade como ato de intervenção.</a:t>
            </a:r>
            <a:endParaRPr lang="en-US" sz="1100" dirty="0"/>
          </a:p>
        </p:txBody>
      </p:sp>
      <p:sp>
        <p:nvSpPr>
          <p:cNvPr id="12" name="Text 10"/>
          <p:cNvSpPr/>
          <p:nvPr/>
        </p:nvSpPr>
        <p:spPr>
          <a:xfrm>
            <a:off x="822960" y="3566160"/>
            <a:ext cx="2194560" cy="640080"/>
          </a:xfrm>
          <a:prstGeom prst="rect">
            <a:avLst/>
          </a:prstGeom>
          <a:noFill/>
          <a:ln/>
        </p:spPr>
        <p:txBody>
          <a:bodyPr wrap="square" lIns="0" tIns="0" rIns="0" bIns="0" rtlCol="0" anchor="t"/>
          <a:lstStyle/>
          <a:p>
            <a:pPr indent="0" marL="0">
              <a:buNone/>
            </a:pPr>
            <a:r>
              <a:rPr lang="en-US" sz="1100" b="1" dirty="0">
                <a:solidFill>
                  <a:srgbClr val="F0E2C1"/>
                </a:solidFill>
                <a:latin typeface="Calibri" pitchFamily="34" charset="0"/>
                <a:ea typeface="Calibri" pitchFamily="34" charset="-122"/>
                <a:cs typeface="Calibri" pitchFamily="34" charset="-120"/>
              </a:rPr>
              <a:t>Tom</a:t>
            </a:r>
            <a:endParaRPr lang="en-US" sz="1100" dirty="0"/>
          </a:p>
        </p:txBody>
      </p:sp>
      <p:sp>
        <p:nvSpPr>
          <p:cNvPr id="13" name="Text 11"/>
          <p:cNvSpPr/>
          <p:nvPr/>
        </p:nvSpPr>
        <p:spPr>
          <a:xfrm>
            <a:off x="3017520" y="3566160"/>
            <a:ext cx="4480560" cy="640080"/>
          </a:xfrm>
          <a:prstGeom prst="rect">
            <a:avLst/>
          </a:prstGeom>
          <a:noFill/>
          <a:ln/>
        </p:spPr>
        <p:txBody>
          <a:bodyPr wrap="square" lIns="0" tIns="0" rIns="0" bIns="0" rtlCol="0" anchor="t"/>
          <a:lstStyle/>
          <a:p>
            <a:pPr indent="0" marL="0">
              <a:buNone/>
            </a:pPr>
            <a:r>
              <a:rPr lang="en-US" sz="1100" dirty="0">
                <a:solidFill>
                  <a:srgbClr val="C9B68A"/>
                </a:solidFill>
                <a:latin typeface="Calibri" pitchFamily="34" charset="0"/>
                <a:ea typeface="Calibri" pitchFamily="34" charset="-122"/>
                <a:cs typeface="Calibri" pitchFamily="34" charset="-120"/>
              </a:rPr>
              <a:t>Tragédia/crítica. Hiperação performativa (João MASCARADO de euforia) rachando até revelar o vazio.</a:t>
            </a:r>
            <a:endParaRPr lang="en-US" sz="1100" dirty="0"/>
          </a:p>
        </p:txBody>
      </p:sp>
      <p:sp>
        <p:nvSpPr>
          <p:cNvPr id="14" name="Text 12"/>
          <p:cNvSpPr/>
          <p:nvPr/>
        </p:nvSpPr>
        <p:spPr>
          <a:xfrm>
            <a:off x="822960" y="4251960"/>
            <a:ext cx="2194560" cy="640080"/>
          </a:xfrm>
          <a:prstGeom prst="rect">
            <a:avLst/>
          </a:prstGeom>
          <a:noFill/>
          <a:ln/>
        </p:spPr>
        <p:txBody>
          <a:bodyPr wrap="square" lIns="0" tIns="0" rIns="0" bIns="0" rtlCol="0" anchor="t"/>
          <a:lstStyle/>
          <a:p>
            <a:pPr indent="0" marL="0">
              <a:buNone/>
            </a:pPr>
            <a:r>
              <a:rPr lang="en-US" sz="1100" b="1" dirty="0">
                <a:solidFill>
                  <a:srgbClr val="F0E2C1"/>
                </a:solidFill>
                <a:latin typeface="Calibri" pitchFamily="34" charset="0"/>
                <a:ea typeface="Calibri" pitchFamily="34" charset="-122"/>
                <a:cs typeface="Calibri" pitchFamily="34" charset="-120"/>
              </a:rPr>
              <a:t>Twist tema</a:t>
            </a:r>
            <a:endParaRPr lang="en-US" sz="1100" dirty="0"/>
          </a:p>
        </p:txBody>
      </p:sp>
      <p:sp>
        <p:nvSpPr>
          <p:cNvPr id="15" name="Text 13"/>
          <p:cNvSpPr/>
          <p:nvPr/>
        </p:nvSpPr>
        <p:spPr>
          <a:xfrm>
            <a:off x="3017520" y="4251960"/>
            <a:ext cx="4480560" cy="640080"/>
          </a:xfrm>
          <a:prstGeom prst="rect">
            <a:avLst/>
          </a:prstGeom>
          <a:noFill/>
          <a:ln/>
        </p:spPr>
        <p:txBody>
          <a:bodyPr wrap="square" lIns="0" tIns="0" rIns="0" bIns="0" rtlCol="0" anchor="t"/>
          <a:lstStyle/>
          <a:p>
            <a:pPr indent="0" marL="0">
              <a:buNone/>
            </a:pPr>
            <a:r>
              <a:rPr lang="en-US" sz="1100" dirty="0">
                <a:solidFill>
                  <a:srgbClr val="C9B68A"/>
                </a:solidFill>
                <a:latin typeface="Calibri" pitchFamily="34" charset="0"/>
                <a:ea typeface="Calibri" pitchFamily="34" charset="-122"/>
                <a:cs typeface="Calibri" pitchFamily="34" charset="-120"/>
              </a:rPr>
              <a:t>Acaso é o que se diz quando já se desistiu. O RNG das corridas é honesto; o que é desonesto é fingir que era só sorte.</a:t>
            </a:r>
            <a:endParaRPr lang="en-US" sz="1100" dirty="0"/>
          </a:p>
        </p:txBody>
      </p:sp>
      <p:sp>
        <p:nvSpPr>
          <p:cNvPr id="16" name="Text 14"/>
          <p:cNvSpPr/>
          <p:nvPr/>
        </p:nvSpPr>
        <p:spPr>
          <a:xfrm>
            <a:off x="822960" y="4937760"/>
            <a:ext cx="2194560" cy="640080"/>
          </a:xfrm>
          <a:prstGeom prst="rect">
            <a:avLst/>
          </a:prstGeom>
          <a:noFill/>
          <a:ln/>
        </p:spPr>
        <p:txBody>
          <a:bodyPr wrap="square" lIns="0" tIns="0" rIns="0" bIns="0" rtlCol="0" anchor="t"/>
          <a:lstStyle/>
          <a:p>
            <a:pPr indent="0" marL="0">
              <a:buNone/>
            </a:pPr>
            <a:r>
              <a:rPr lang="en-US" sz="1100" b="1" dirty="0">
                <a:solidFill>
                  <a:srgbClr val="F0E2C1"/>
                </a:solidFill>
                <a:latin typeface="Calibri" pitchFamily="34" charset="0"/>
                <a:ea typeface="Calibri" pitchFamily="34" charset="-122"/>
                <a:cs typeface="Calibri" pitchFamily="34" charset="-120"/>
              </a:rPr>
              <a:t>Formato</a:t>
            </a:r>
            <a:endParaRPr lang="en-US" sz="1100" dirty="0"/>
          </a:p>
        </p:txBody>
      </p:sp>
      <p:sp>
        <p:nvSpPr>
          <p:cNvPr id="17" name="Text 15"/>
          <p:cNvSpPr/>
          <p:nvPr/>
        </p:nvSpPr>
        <p:spPr>
          <a:xfrm>
            <a:off x="3017520" y="4937760"/>
            <a:ext cx="4480560" cy="640080"/>
          </a:xfrm>
          <a:prstGeom prst="rect">
            <a:avLst/>
          </a:prstGeom>
          <a:noFill/>
          <a:ln/>
        </p:spPr>
        <p:txBody>
          <a:bodyPr wrap="square" lIns="0" tIns="0" rIns="0" bIns="0" rtlCol="0" anchor="t"/>
          <a:lstStyle/>
          <a:p>
            <a:pPr indent="0" marL="0">
              <a:buNone/>
            </a:pPr>
            <a:r>
              <a:rPr lang="en-US" sz="1100" dirty="0">
                <a:solidFill>
                  <a:srgbClr val="C9B68A"/>
                </a:solidFill>
                <a:latin typeface="Calibri" pitchFamily="34" charset="0"/>
                <a:ea typeface="Calibri" pitchFamily="34" charset="-122"/>
                <a:cs typeface="Calibri" pitchFamily="34" charset="-120"/>
              </a:rPr>
              <a:t>VN + minigame de corrida (timer-based, POV do João dissolvido).</a:t>
            </a:r>
            <a:endParaRPr lang="en-US" sz="1100" dirty="0"/>
          </a:p>
        </p:txBody>
      </p:sp>
      <p:sp>
        <p:nvSpPr>
          <p:cNvPr id="18" name="Text 16"/>
          <p:cNvSpPr/>
          <p:nvPr/>
        </p:nvSpPr>
        <p:spPr>
          <a:xfrm>
            <a:off x="822960" y="5623560"/>
            <a:ext cx="2194560" cy="640080"/>
          </a:xfrm>
          <a:prstGeom prst="rect">
            <a:avLst/>
          </a:prstGeom>
          <a:noFill/>
          <a:ln/>
        </p:spPr>
        <p:txBody>
          <a:bodyPr wrap="square" lIns="0" tIns="0" rIns="0" bIns="0" rtlCol="0" anchor="t"/>
          <a:lstStyle/>
          <a:p>
            <a:pPr indent="0" marL="0">
              <a:buNone/>
            </a:pPr>
            <a:r>
              <a:rPr lang="en-US" sz="1100" b="1" dirty="0">
                <a:solidFill>
                  <a:srgbClr val="F0E2C1"/>
                </a:solidFill>
                <a:latin typeface="Calibri" pitchFamily="34" charset="0"/>
                <a:ea typeface="Calibri" pitchFamily="34" charset="-122"/>
                <a:cs typeface="Calibri" pitchFamily="34" charset="-120"/>
              </a:rPr>
              <a:t>Engine</a:t>
            </a:r>
            <a:endParaRPr lang="en-US" sz="1100" dirty="0"/>
          </a:p>
        </p:txBody>
      </p:sp>
      <p:sp>
        <p:nvSpPr>
          <p:cNvPr id="19" name="Text 17"/>
          <p:cNvSpPr/>
          <p:nvPr/>
        </p:nvSpPr>
        <p:spPr>
          <a:xfrm>
            <a:off x="3017520" y="5623560"/>
            <a:ext cx="4480560" cy="640080"/>
          </a:xfrm>
          <a:prstGeom prst="rect">
            <a:avLst/>
          </a:prstGeom>
          <a:noFill/>
          <a:ln/>
        </p:spPr>
        <p:txBody>
          <a:bodyPr wrap="square" lIns="0" tIns="0" rIns="0" bIns="0" rtlCol="0" anchor="t"/>
          <a:lstStyle/>
          <a:p>
            <a:pPr indent="0" marL="0">
              <a:buNone/>
            </a:pPr>
            <a:r>
              <a:rPr lang="en-US" sz="1100" dirty="0">
                <a:solidFill>
                  <a:srgbClr val="C9B68A"/>
                </a:solidFill>
                <a:latin typeface="Calibri" pitchFamily="34" charset="0"/>
                <a:ea typeface="Calibri" pitchFamily="34" charset="-122"/>
                <a:cs typeface="Calibri" pitchFamily="34" charset="-120"/>
              </a:rPr>
              <a:t>RPG Maker MZ (HTML5 nativo, web-playable).</a:t>
            </a:r>
            <a:endParaRPr lang="en-US" sz="1100" dirty="0"/>
          </a:p>
        </p:txBody>
      </p:sp>
      <p:sp>
        <p:nvSpPr>
          <p:cNvPr id="20" name="Shape 18"/>
          <p:cNvSpPr/>
          <p:nvPr/>
        </p:nvSpPr>
        <p:spPr>
          <a:xfrm>
            <a:off x="7772400" y="1737360"/>
            <a:ext cx="3657600" cy="4206240"/>
          </a:xfrm>
          <a:prstGeom prst="rect">
            <a:avLst/>
          </a:prstGeom>
          <a:solidFill>
            <a:srgbClr val="332A22"/>
          </a:solidFill>
          <a:ln w="12700">
            <a:solidFill>
              <a:srgbClr val="8B0000"/>
            </a:solidFill>
            <a:prstDash val="dash"/>
          </a:ln>
        </p:spPr>
      </p:sp>
      <p:sp>
        <p:nvSpPr>
          <p:cNvPr id="21" name="Shape 19"/>
          <p:cNvSpPr/>
          <p:nvPr/>
        </p:nvSpPr>
        <p:spPr>
          <a:xfrm>
            <a:off x="7772400" y="1737360"/>
            <a:ext cx="73152" cy="4206240"/>
          </a:xfrm>
          <a:prstGeom prst="rect">
            <a:avLst/>
          </a:prstGeom>
          <a:solidFill>
            <a:srgbClr val="8B0000"/>
          </a:solidFill>
          <a:ln w="12700">
            <a:solidFill>
              <a:srgbClr val="8B0000"/>
            </a:solidFill>
            <a:prstDash val="solid"/>
          </a:ln>
        </p:spPr>
      </p:sp>
      <p:sp>
        <p:nvSpPr>
          <p:cNvPr id="22" name="Text 20"/>
          <p:cNvSpPr/>
          <p:nvPr/>
        </p:nvSpPr>
        <p:spPr>
          <a:xfrm>
            <a:off x="7955280" y="1828800"/>
            <a:ext cx="3383280" cy="27432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PROMPT — IMAGEM (nanobanana)</a:t>
            </a:r>
            <a:endParaRPr lang="en-US" sz="900" dirty="0"/>
          </a:p>
        </p:txBody>
      </p:sp>
      <p:sp>
        <p:nvSpPr>
          <p:cNvPr id="23" name="Text 21"/>
          <p:cNvSpPr/>
          <p:nvPr/>
        </p:nvSpPr>
        <p:spPr>
          <a:xfrm>
            <a:off x="7955280" y="2148840"/>
            <a:ext cx="3291840" cy="3703320"/>
          </a:xfrm>
          <a:prstGeom prst="rect">
            <a:avLst/>
          </a:prstGeom>
          <a:noFill/>
          <a:ln/>
        </p:spPr>
        <p:txBody>
          <a:bodyPr wrap="square" lIns="0" tIns="0" rIns="0" bIns="0" rtlCol="0" anchor="t"/>
          <a:lstStyle/>
          <a:p>
            <a:pPr indent="0" marL="0">
              <a:buNone/>
            </a:pPr>
            <a:r>
              <a:rPr lang="en-US" sz="1100" i="1" dirty="0">
                <a:solidFill>
                  <a:srgbClr val="C9B68A"/>
                </a:solidFill>
                <a:latin typeface="Calibri" pitchFamily="34" charset="0"/>
                <a:ea typeface="Calibri" pitchFamily="34" charset="-122"/>
                <a:cs typeface="Calibri" pitchFamily="34" charset="-120"/>
              </a:rPr>
              <a:t>Uma placa de metal envelhecida cravada na beira de uma estrada brasiliense, estilo iluminura sepia bestiário medieval. Letras desgastadas formam os dizeres "CURVA DO DIABO". Ao lado, uma pequena cruz de madeira. Névoa baixa, luz fria de madrugada. Linhas pretas puras, hachuras cruzadas a 30/45/60 graus, alto contraste, textura de pergaminho envelhecido. Vermelho sangue (#8B0000) apenas na palavra "DIABO".</a:t>
            </a:r>
            <a:endParaRPr lang="en-US" sz="1100" dirty="0"/>
          </a:p>
        </p:txBody>
      </p:sp>
      <p:sp>
        <p:nvSpPr>
          <p:cNvPr id="24" name="Text 22"/>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25" name="Text 23"/>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5  •  CORE LOOP</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Dois modos alternados</a:t>
            </a:r>
            <a:endParaRPr lang="en-US" sz="3400" dirty="0"/>
          </a:p>
        </p:txBody>
      </p:sp>
      <p:sp>
        <p:nvSpPr>
          <p:cNvPr id="5" name="Shape 3"/>
          <p:cNvSpPr/>
          <p:nvPr/>
        </p:nvSpPr>
        <p:spPr>
          <a:xfrm>
            <a:off x="822960" y="1783080"/>
            <a:ext cx="5349240" cy="3657600"/>
          </a:xfrm>
          <a:prstGeom prst="rect">
            <a:avLst/>
          </a:prstGeom>
          <a:solidFill>
            <a:srgbClr val="332A22"/>
          </a:solidFill>
          <a:ln w="12700">
            <a:solidFill>
              <a:srgbClr val="2A221B"/>
            </a:solidFill>
            <a:prstDash val="solid"/>
          </a:ln>
        </p:spPr>
      </p:sp>
      <p:sp>
        <p:nvSpPr>
          <p:cNvPr id="6" name="Shape 4"/>
          <p:cNvSpPr/>
          <p:nvPr/>
        </p:nvSpPr>
        <p:spPr>
          <a:xfrm>
            <a:off x="822960" y="1783080"/>
            <a:ext cx="5349240" cy="109728"/>
          </a:xfrm>
          <a:prstGeom prst="rect">
            <a:avLst/>
          </a:prstGeom>
          <a:solidFill>
            <a:srgbClr val="8B0000"/>
          </a:solidFill>
          <a:ln w="12700">
            <a:solidFill>
              <a:srgbClr val="8B0000"/>
            </a:solidFill>
            <a:prstDash val="solid"/>
          </a:ln>
        </p:spPr>
      </p:sp>
      <p:sp>
        <p:nvSpPr>
          <p:cNvPr id="7" name="Text 5"/>
          <p:cNvSpPr/>
          <p:nvPr/>
        </p:nvSpPr>
        <p:spPr>
          <a:xfrm>
            <a:off x="1051560" y="1965960"/>
            <a:ext cx="4892040" cy="274320"/>
          </a:xfrm>
          <a:prstGeom prst="rect">
            <a:avLst/>
          </a:prstGeom>
          <a:noFill/>
          <a:ln/>
        </p:spPr>
        <p:txBody>
          <a:bodyPr wrap="square" lIns="0" tIns="0" rIns="0" bIns="0" rtlCol="0" anchor="ctr"/>
          <a:lstStyle/>
          <a:p>
            <a:pPr indent="0" marL="0">
              <a:buNone/>
            </a:pPr>
            <a:r>
              <a:rPr lang="en-US" sz="1000" b="1" spc="500" kern="0" dirty="0">
                <a:solidFill>
                  <a:srgbClr val="B22222"/>
                </a:solidFill>
                <a:latin typeface="Calibri" pitchFamily="34" charset="0"/>
                <a:ea typeface="Calibri" pitchFamily="34" charset="-122"/>
                <a:cs typeface="Calibri" pitchFamily="34" charset="-120"/>
              </a:rPr>
              <a:t>MODO A</a:t>
            </a:r>
            <a:endParaRPr lang="en-US" sz="1000" dirty="0"/>
          </a:p>
        </p:txBody>
      </p:sp>
      <p:sp>
        <p:nvSpPr>
          <p:cNvPr id="8" name="Text 6"/>
          <p:cNvSpPr/>
          <p:nvPr/>
        </p:nvSpPr>
        <p:spPr>
          <a:xfrm>
            <a:off x="1051560" y="2240280"/>
            <a:ext cx="4892040" cy="502920"/>
          </a:xfrm>
          <a:prstGeom prst="rect">
            <a:avLst/>
          </a:prstGeom>
          <a:noFill/>
          <a:ln/>
        </p:spPr>
        <p:txBody>
          <a:bodyPr wrap="square" lIns="0" tIns="0" rIns="0" bIns="0" rtlCol="0" anchor="ctr"/>
          <a:lstStyle/>
          <a:p>
            <a:pPr indent="0" marL="0">
              <a:buNone/>
            </a:pPr>
            <a:r>
              <a:rPr lang="en-US" sz="2600" b="1" dirty="0">
                <a:solidFill>
                  <a:srgbClr val="F0E2C1"/>
                </a:solidFill>
                <a:latin typeface="Georgia" pitchFamily="34" charset="0"/>
                <a:ea typeface="Georgia" pitchFamily="34" charset="-122"/>
                <a:cs typeface="Georgia" pitchFamily="34" charset="-120"/>
              </a:rPr>
              <a:t>Cenas VN</a:t>
            </a:r>
            <a:endParaRPr lang="en-US" sz="2600" dirty="0"/>
          </a:p>
        </p:txBody>
      </p:sp>
      <p:sp>
        <p:nvSpPr>
          <p:cNvPr id="9" name="Text 7"/>
          <p:cNvSpPr/>
          <p:nvPr/>
        </p:nvSpPr>
        <p:spPr>
          <a:xfrm>
            <a:off x="1051560" y="2697480"/>
            <a:ext cx="4892040" cy="274320"/>
          </a:xfrm>
          <a:prstGeom prst="rect">
            <a:avLst/>
          </a:prstGeom>
          <a:noFill/>
          <a:ln/>
        </p:spPr>
        <p:txBody>
          <a:bodyPr wrap="square" lIns="0" tIns="0" rIns="0" bIns="0" rtlCol="0" anchor="ctr"/>
          <a:lstStyle/>
          <a:p>
            <a:pPr indent="0" marL="0">
              <a:buNone/>
            </a:pPr>
            <a:r>
              <a:rPr lang="en-US" sz="1300" i="1" dirty="0">
                <a:solidFill>
                  <a:srgbClr val="C9B68A"/>
                </a:solidFill>
                <a:latin typeface="Georgia" pitchFamily="34" charset="0"/>
                <a:ea typeface="Georgia" pitchFamily="34" charset="-122"/>
                <a:cs typeface="Georgia" pitchFamily="34" charset="-120"/>
              </a:rPr>
              <a:t>entre corridas</a:t>
            </a:r>
            <a:endParaRPr lang="en-US" sz="1300" dirty="0"/>
          </a:p>
        </p:txBody>
      </p:sp>
      <p:sp>
        <p:nvSpPr>
          <p:cNvPr id="10" name="Text 8"/>
          <p:cNvSpPr/>
          <p:nvPr/>
        </p:nvSpPr>
        <p:spPr>
          <a:xfrm>
            <a:off x="1097280" y="3108960"/>
            <a:ext cx="484632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3 locais fixos simbólicos: Posto, Quarto do João, Beira da estrada.</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Diálogo livre entre João e o amigo (você). Opções únicas por contexto.</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Escolhas acumulam ConcernScore (variável oculta 0–100).</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Pistas ambientais aparecem ALEATORIAMENTE por run — sem ordem fixa.</a:t>
            </a:r>
            <a:endParaRPr lang="en-US" sz="1200" dirty="0"/>
          </a:p>
        </p:txBody>
      </p:sp>
      <p:sp>
        <p:nvSpPr>
          <p:cNvPr id="11" name="Shape 9"/>
          <p:cNvSpPr/>
          <p:nvPr/>
        </p:nvSpPr>
        <p:spPr>
          <a:xfrm>
            <a:off x="6446520" y="1783080"/>
            <a:ext cx="5349240" cy="3657600"/>
          </a:xfrm>
          <a:prstGeom prst="rect">
            <a:avLst/>
          </a:prstGeom>
          <a:solidFill>
            <a:srgbClr val="332A22"/>
          </a:solidFill>
          <a:ln w="12700">
            <a:solidFill>
              <a:srgbClr val="2A221B"/>
            </a:solidFill>
            <a:prstDash val="solid"/>
          </a:ln>
        </p:spPr>
      </p:sp>
      <p:sp>
        <p:nvSpPr>
          <p:cNvPr id="12" name="Shape 10"/>
          <p:cNvSpPr/>
          <p:nvPr/>
        </p:nvSpPr>
        <p:spPr>
          <a:xfrm>
            <a:off x="6446520" y="1783080"/>
            <a:ext cx="5349240" cy="109728"/>
          </a:xfrm>
          <a:prstGeom prst="rect">
            <a:avLst/>
          </a:prstGeom>
          <a:solidFill>
            <a:srgbClr val="8B0000"/>
          </a:solidFill>
          <a:ln w="12700">
            <a:solidFill>
              <a:srgbClr val="8B0000"/>
            </a:solidFill>
            <a:prstDash val="solid"/>
          </a:ln>
        </p:spPr>
      </p:sp>
      <p:sp>
        <p:nvSpPr>
          <p:cNvPr id="13" name="Text 11"/>
          <p:cNvSpPr/>
          <p:nvPr/>
        </p:nvSpPr>
        <p:spPr>
          <a:xfrm>
            <a:off x="6675120" y="1965960"/>
            <a:ext cx="4892040" cy="274320"/>
          </a:xfrm>
          <a:prstGeom prst="rect">
            <a:avLst/>
          </a:prstGeom>
          <a:noFill/>
          <a:ln/>
        </p:spPr>
        <p:txBody>
          <a:bodyPr wrap="square" lIns="0" tIns="0" rIns="0" bIns="0" rtlCol="0" anchor="ctr"/>
          <a:lstStyle/>
          <a:p>
            <a:pPr indent="0" marL="0">
              <a:buNone/>
            </a:pPr>
            <a:r>
              <a:rPr lang="en-US" sz="1000" b="1" spc="500" kern="0" dirty="0">
                <a:solidFill>
                  <a:srgbClr val="B22222"/>
                </a:solidFill>
                <a:latin typeface="Calibri" pitchFamily="34" charset="0"/>
                <a:ea typeface="Calibri" pitchFamily="34" charset="-122"/>
                <a:cs typeface="Calibri" pitchFamily="34" charset="-120"/>
              </a:rPr>
              <a:t>MODO B</a:t>
            </a:r>
            <a:endParaRPr lang="en-US" sz="1000" dirty="0"/>
          </a:p>
        </p:txBody>
      </p:sp>
      <p:sp>
        <p:nvSpPr>
          <p:cNvPr id="14" name="Text 12"/>
          <p:cNvSpPr/>
          <p:nvPr/>
        </p:nvSpPr>
        <p:spPr>
          <a:xfrm>
            <a:off x="6675120" y="2240280"/>
            <a:ext cx="4892040" cy="502920"/>
          </a:xfrm>
          <a:prstGeom prst="rect">
            <a:avLst/>
          </a:prstGeom>
          <a:noFill/>
          <a:ln/>
        </p:spPr>
        <p:txBody>
          <a:bodyPr wrap="square" lIns="0" tIns="0" rIns="0" bIns="0" rtlCol="0" anchor="ctr"/>
          <a:lstStyle/>
          <a:p>
            <a:pPr indent="0" marL="0">
              <a:buNone/>
            </a:pPr>
            <a:r>
              <a:rPr lang="en-US" sz="2600" b="1" dirty="0">
                <a:solidFill>
                  <a:srgbClr val="F0E2C1"/>
                </a:solidFill>
                <a:latin typeface="Georgia" pitchFamily="34" charset="0"/>
                <a:ea typeface="Georgia" pitchFamily="34" charset="-122"/>
                <a:cs typeface="Georgia" pitchFamily="34" charset="-120"/>
              </a:rPr>
              <a:t>Corridas</a:t>
            </a:r>
            <a:endParaRPr lang="en-US" sz="2600" dirty="0"/>
          </a:p>
        </p:txBody>
      </p:sp>
      <p:sp>
        <p:nvSpPr>
          <p:cNvPr id="15" name="Text 13"/>
          <p:cNvSpPr/>
          <p:nvPr/>
        </p:nvSpPr>
        <p:spPr>
          <a:xfrm>
            <a:off x="6675120" y="2697480"/>
            <a:ext cx="4892040" cy="274320"/>
          </a:xfrm>
          <a:prstGeom prst="rect">
            <a:avLst/>
          </a:prstGeom>
          <a:noFill/>
          <a:ln/>
        </p:spPr>
        <p:txBody>
          <a:bodyPr wrap="square" lIns="0" tIns="0" rIns="0" bIns="0" rtlCol="0" anchor="ctr"/>
          <a:lstStyle/>
          <a:p>
            <a:pPr indent="0" marL="0">
              <a:buNone/>
            </a:pPr>
            <a:r>
              <a:rPr lang="en-US" sz="1300" i="1" dirty="0">
                <a:solidFill>
                  <a:srgbClr val="C9B68A"/>
                </a:solidFill>
                <a:latin typeface="Georgia" pitchFamily="34" charset="0"/>
                <a:ea typeface="Georgia" pitchFamily="34" charset="-122"/>
                <a:cs typeface="Georgia" pitchFamily="34" charset="-120"/>
              </a:rPr>
              <a:t>minigame, POV do João</a:t>
            </a:r>
            <a:endParaRPr lang="en-US" sz="1300" dirty="0"/>
          </a:p>
        </p:txBody>
      </p:sp>
      <p:sp>
        <p:nvSpPr>
          <p:cNvPr id="16" name="Text 14"/>
          <p:cNvSpPr/>
          <p:nvPr/>
        </p:nvSpPr>
        <p:spPr>
          <a:xfrm>
            <a:off x="6720840" y="3108960"/>
            <a:ext cx="4846320" cy="2286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3 corridas fixas (Lenda → Rachadura → Abismo).</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Cada corrida = 5–8 cenas com timer de 3–5s.</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Sinal: verde/amarelo/vermelho → Acelerar ou Frear.</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Curva: Direita (safe) ou Esquerda (atalho com RNG).</a:t>
            </a:r>
            <a:endParaRPr lang="en-US" sz="1200" dirty="0"/>
          </a:p>
          <a:p>
            <a:pPr marL="342900" indent="-342900">
              <a:spcAft>
                <a:spcPts val="600"/>
              </a:spcAft>
              <a:buSzPct val="100000"/>
              <a:buChar char="▪"/>
            </a:pPr>
            <a:r>
              <a:rPr lang="en-US" sz="1200" dirty="0">
                <a:solidFill>
                  <a:srgbClr val="F0E2C1"/>
                </a:solidFill>
                <a:latin typeface="Calibri" pitchFamily="34" charset="0"/>
                <a:ea typeface="Calibri" pitchFamily="34" charset="-122"/>
                <a:cs typeface="Calibri" pitchFamily="34" charset="-120"/>
              </a:rPr>
              <a:t>Dissociação: você assume o POV do João por alguns segundos.</a:t>
            </a:r>
            <a:endParaRPr lang="en-US" sz="1200" dirty="0"/>
          </a:p>
        </p:txBody>
      </p:sp>
      <p:sp>
        <p:nvSpPr>
          <p:cNvPr id="17" name="Shape 15"/>
          <p:cNvSpPr/>
          <p:nvPr/>
        </p:nvSpPr>
        <p:spPr>
          <a:xfrm>
            <a:off x="822960" y="5623560"/>
            <a:ext cx="10972800" cy="640080"/>
          </a:xfrm>
          <a:prstGeom prst="rect">
            <a:avLst/>
          </a:prstGeom>
          <a:solidFill>
            <a:srgbClr val="3F342B"/>
          </a:solidFill>
          <a:ln w="12700">
            <a:solidFill>
              <a:srgbClr val="2A221B"/>
            </a:solidFill>
            <a:prstDash val="solid"/>
          </a:ln>
        </p:spPr>
      </p:sp>
      <p:sp>
        <p:nvSpPr>
          <p:cNvPr id="18" name="Text 16"/>
          <p:cNvSpPr/>
          <p:nvPr/>
        </p:nvSpPr>
        <p:spPr>
          <a:xfrm>
            <a:off x="1005840" y="5715000"/>
            <a:ext cx="10607040" cy="457200"/>
          </a:xfrm>
          <a:prstGeom prst="rect">
            <a:avLst/>
          </a:prstGeom>
          <a:noFill/>
          <a:ln/>
        </p:spPr>
        <p:txBody>
          <a:bodyPr wrap="square" lIns="0" tIns="0" rIns="0" bIns="0" rtlCol="0" anchor="ctr"/>
          <a:lstStyle/>
          <a:p>
            <a:pPr indent="0" marL="0">
              <a:buNone/>
            </a:pPr>
            <a:r>
              <a:rPr lang="en-US" sz="1100" b="1" dirty="0">
                <a:solidFill>
                  <a:srgbClr val="B22222"/>
                </a:solidFill>
                <a:latin typeface="Calibri" pitchFamily="34" charset="0"/>
                <a:ea typeface="Calibri" pitchFamily="34" charset="-122"/>
                <a:cs typeface="Calibri" pitchFamily="34" charset="-120"/>
              </a:rPr>
              <a:t xml:space="preserve">Estrutura fixa: </a:t>
            </a:r>
            <a:pPr indent="0" marL="0">
              <a:buNone/>
            </a:pPr>
            <a:r>
              <a:rPr lang="en-US" sz="1100" dirty="0">
                <a:solidFill>
                  <a:srgbClr val="F0E2C1"/>
                </a:solidFill>
                <a:latin typeface="Calibri" pitchFamily="34" charset="0"/>
                <a:ea typeface="Calibri" pitchFamily="34" charset="-122"/>
                <a:cs typeface="Calibri" pitchFamily="34" charset="-120"/>
              </a:rPr>
              <a:t>Prólogo → VN1 (Posto) → Corrida 1 → VN2 (Quarto) → Corrida 2 → VN3 (Beira) → Corrida 3 + final conforme ConcernScore.</a:t>
            </a:r>
            <a:endParaRPr lang="en-US" sz="1100" dirty="0"/>
          </a:p>
        </p:txBody>
      </p:sp>
      <p:sp>
        <p:nvSpPr>
          <p:cNvPr id="19"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20" name="Text 18"/>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6  •  TWIST DO TEMA</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"Let chance decide", subvertido</a:t>
            </a:r>
            <a:endParaRPr lang="en-US" sz="3400" dirty="0"/>
          </a:p>
        </p:txBody>
      </p:sp>
      <p:sp>
        <p:nvSpPr>
          <p:cNvPr id="5" name="Text 3"/>
          <p:cNvSpPr/>
          <p:nvPr/>
        </p:nvSpPr>
        <p:spPr>
          <a:xfrm>
            <a:off x="822960" y="1737360"/>
            <a:ext cx="10972800" cy="365760"/>
          </a:xfrm>
          <a:prstGeom prst="rect">
            <a:avLst/>
          </a:prstGeom>
          <a:noFill/>
          <a:ln/>
        </p:spPr>
        <p:txBody>
          <a:bodyPr wrap="square" lIns="0" tIns="0" rIns="0" bIns="0" rtlCol="0" anchor="ctr"/>
          <a:lstStyle/>
          <a:p>
            <a:pPr indent="0" marL="0">
              <a:buNone/>
            </a:pPr>
            <a:r>
              <a:rPr lang="en-US" sz="1200" b="1" spc="500" kern="0" dirty="0">
                <a:solidFill>
                  <a:srgbClr val="B22222"/>
                </a:solidFill>
                <a:latin typeface="Calibri" pitchFamily="34" charset="0"/>
                <a:ea typeface="Calibri" pitchFamily="34" charset="-122"/>
                <a:cs typeface="Calibri" pitchFamily="34" charset="-120"/>
              </a:rPr>
              <a:t>A tese do jogo:</a:t>
            </a:r>
            <a:endParaRPr lang="en-US" sz="1200" dirty="0"/>
          </a:p>
        </p:txBody>
      </p:sp>
      <p:sp>
        <p:nvSpPr>
          <p:cNvPr id="6" name="Text 4"/>
          <p:cNvSpPr/>
          <p:nvPr/>
        </p:nvSpPr>
        <p:spPr>
          <a:xfrm>
            <a:off x="822960" y="2148840"/>
            <a:ext cx="10972800" cy="1463040"/>
          </a:xfrm>
          <a:prstGeom prst="rect">
            <a:avLst/>
          </a:prstGeom>
          <a:noFill/>
          <a:ln/>
        </p:spPr>
        <p:txBody>
          <a:bodyPr wrap="square" lIns="0" tIns="0" rIns="0" bIns="0" rtlCol="0" anchor="ctr"/>
          <a:lstStyle/>
          <a:p>
            <a:pPr indent="0" marL="0">
              <a:buNone/>
            </a:pPr>
            <a:r>
              <a:rPr lang="en-US" sz="2800" b="1" i="1" dirty="0">
                <a:solidFill>
                  <a:srgbClr val="F0E2C1"/>
                </a:solidFill>
                <a:latin typeface="Georgia" pitchFamily="34" charset="0"/>
                <a:ea typeface="Georgia" pitchFamily="34" charset="-122"/>
                <a:cs typeface="Georgia" pitchFamily="34" charset="-120"/>
              </a:rPr>
              <a:t>"Deixar o acaso decidir é o que se diz quando já se desistiu. O amor é a recusa em deixar o acaso ter a última palavra."</a:t>
            </a:r>
            <a:endParaRPr lang="en-US" sz="2800" dirty="0"/>
          </a:p>
        </p:txBody>
      </p:sp>
      <p:sp>
        <p:nvSpPr>
          <p:cNvPr id="7" name="Shape 5"/>
          <p:cNvSpPr/>
          <p:nvPr/>
        </p:nvSpPr>
        <p:spPr>
          <a:xfrm>
            <a:off x="822960" y="3840480"/>
            <a:ext cx="5349240" cy="2286000"/>
          </a:xfrm>
          <a:prstGeom prst="rect">
            <a:avLst/>
          </a:prstGeom>
          <a:solidFill>
            <a:srgbClr val="332A22"/>
          </a:solidFill>
          <a:ln w="12700">
            <a:solidFill>
              <a:srgbClr val="2A221B"/>
            </a:solidFill>
            <a:prstDash val="solid"/>
          </a:ln>
        </p:spPr>
      </p:sp>
      <p:sp>
        <p:nvSpPr>
          <p:cNvPr id="8" name="Text 6"/>
          <p:cNvSpPr/>
          <p:nvPr/>
        </p:nvSpPr>
        <p:spPr>
          <a:xfrm>
            <a:off x="1051560" y="3977640"/>
            <a:ext cx="489204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CAMADA 1  •  LITERAL</a:t>
            </a:r>
            <a:endParaRPr lang="en-US" sz="1000" dirty="0"/>
          </a:p>
        </p:txBody>
      </p:sp>
      <p:sp>
        <p:nvSpPr>
          <p:cNvPr id="9" name="Text 7"/>
          <p:cNvSpPr/>
          <p:nvPr/>
        </p:nvSpPr>
        <p:spPr>
          <a:xfrm>
            <a:off x="1051560" y="4251960"/>
            <a:ext cx="4892040" cy="365760"/>
          </a:xfrm>
          <a:prstGeom prst="rect">
            <a:avLst/>
          </a:prstGeom>
          <a:noFill/>
          <a:ln/>
        </p:spPr>
        <p:txBody>
          <a:bodyPr wrap="square" lIns="0" tIns="0" rIns="0" bIns="0" rtlCol="0" anchor="ctr"/>
          <a:lstStyle/>
          <a:p>
            <a:pPr indent="0" marL="0">
              <a:buNone/>
            </a:pPr>
            <a:r>
              <a:rPr lang="en-US" sz="2000" b="1" dirty="0">
                <a:solidFill>
                  <a:srgbClr val="F0E2C1"/>
                </a:solidFill>
                <a:latin typeface="Georgia" pitchFamily="34" charset="0"/>
                <a:ea typeface="Georgia" pitchFamily="34" charset="-122"/>
                <a:cs typeface="Georgia" pitchFamily="34" charset="-120"/>
              </a:rPr>
              <a:t>Na mecânica</a:t>
            </a:r>
            <a:endParaRPr lang="en-US" sz="2000" dirty="0"/>
          </a:p>
        </p:txBody>
      </p:sp>
      <p:sp>
        <p:nvSpPr>
          <p:cNvPr id="10" name="Text 8"/>
          <p:cNvSpPr/>
          <p:nvPr/>
        </p:nvSpPr>
        <p:spPr>
          <a:xfrm>
            <a:off x="1051560" y="4663440"/>
            <a:ext cx="4892040" cy="1371600"/>
          </a:xfrm>
          <a:prstGeom prst="rect">
            <a:avLst/>
          </a:prstGeom>
          <a:noFill/>
          <a:ln/>
        </p:spPr>
        <p:txBody>
          <a:bodyPr wrap="square" lIns="0" tIns="0" rIns="0" bIns="0" rtlCol="0" anchor="ctr"/>
          <a:lstStyle/>
          <a:p>
            <a:pPr indent="0" marL="0">
              <a:buNone/>
            </a:pPr>
            <a:r>
              <a:rPr lang="en-US" sz="1200" dirty="0">
                <a:solidFill>
                  <a:srgbClr val="C9B68A"/>
                </a:solidFill>
                <a:latin typeface="Calibri" pitchFamily="34" charset="0"/>
                <a:ea typeface="Calibri" pitchFamily="34" charset="-122"/>
                <a:cs typeface="Calibri" pitchFamily="34" charset="-120"/>
              </a:rPr>
              <a:t>As corridas são honestas: direita = safe, esquerda = RNG. O "let chance decide" da jam é seguido à risca no minigame. João é um piloto talentoso; as decisões dele na pista são, em tese, calculadas.</a:t>
            </a:r>
            <a:endParaRPr lang="en-US" sz="1200" dirty="0"/>
          </a:p>
        </p:txBody>
      </p:sp>
      <p:sp>
        <p:nvSpPr>
          <p:cNvPr id="11" name="Shape 9"/>
          <p:cNvSpPr/>
          <p:nvPr/>
        </p:nvSpPr>
        <p:spPr>
          <a:xfrm>
            <a:off x="6446520" y="3840480"/>
            <a:ext cx="5349240" cy="2286000"/>
          </a:xfrm>
          <a:prstGeom prst="rect">
            <a:avLst/>
          </a:prstGeom>
          <a:solidFill>
            <a:srgbClr val="332A22"/>
          </a:solidFill>
          <a:ln w="12700">
            <a:solidFill>
              <a:srgbClr val="2A221B"/>
            </a:solidFill>
            <a:prstDash val="solid"/>
          </a:ln>
        </p:spPr>
      </p:sp>
      <p:sp>
        <p:nvSpPr>
          <p:cNvPr id="12" name="Text 10"/>
          <p:cNvSpPr/>
          <p:nvPr/>
        </p:nvSpPr>
        <p:spPr>
          <a:xfrm>
            <a:off x="6675120" y="3977640"/>
            <a:ext cx="489204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CAMADA 2  •  SUBVERSÃO</a:t>
            </a:r>
            <a:endParaRPr lang="en-US" sz="1000" dirty="0"/>
          </a:p>
        </p:txBody>
      </p:sp>
      <p:sp>
        <p:nvSpPr>
          <p:cNvPr id="13" name="Text 11"/>
          <p:cNvSpPr/>
          <p:nvPr/>
        </p:nvSpPr>
        <p:spPr>
          <a:xfrm>
            <a:off x="6675120" y="4251960"/>
            <a:ext cx="4892040" cy="365760"/>
          </a:xfrm>
          <a:prstGeom prst="rect">
            <a:avLst/>
          </a:prstGeom>
          <a:noFill/>
          <a:ln/>
        </p:spPr>
        <p:txBody>
          <a:bodyPr wrap="square" lIns="0" tIns="0" rIns="0" bIns="0" rtlCol="0" anchor="ctr"/>
          <a:lstStyle/>
          <a:p>
            <a:pPr indent="0" marL="0">
              <a:buNone/>
            </a:pPr>
            <a:r>
              <a:rPr lang="en-US" sz="2000" b="1" dirty="0">
                <a:solidFill>
                  <a:srgbClr val="F0E2C1"/>
                </a:solidFill>
                <a:latin typeface="Georgia" pitchFamily="34" charset="0"/>
                <a:ea typeface="Georgia" pitchFamily="34" charset="-122"/>
                <a:cs typeface="Georgia" pitchFamily="34" charset="-120"/>
              </a:rPr>
              <a:t>Nos finais</a:t>
            </a:r>
            <a:endParaRPr lang="en-US" sz="2000" dirty="0"/>
          </a:p>
        </p:txBody>
      </p:sp>
      <p:sp>
        <p:nvSpPr>
          <p:cNvPr id="14" name="Text 12"/>
          <p:cNvSpPr/>
          <p:nvPr/>
        </p:nvSpPr>
        <p:spPr>
          <a:xfrm>
            <a:off x="6675120" y="4663440"/>
            <a:ext cx="4892040" cy="1371600"/>
          </a:xfrm>
          <a:prstGeom prst="rect">
            <a:avLst/>
          </a:prstGeom>
          <a:noFill/>
          <a:ln/>
        </p:spPr>
        <p:txBody>
          <a:bodyPr wrap="square" lIns="0" tIns="0" rIns="0" bIns="0" rtlCol="0" anchor="ctr"/>
          <a:lstStyle/>
          <a:p>
            <a:pPr indent="0" marL="0">
              <a:buNone/>
            </a:pPr>
            <a:r>
              <a:rPr lang="en-US" sz="1200" dirty="0">
                <a:solidFill>
                  <a:srgbClr val="C9B68A"/>
                </a:solidFill>
                <a:latin typeface="Calibri" pitchFamily="34" charset="0"/>
                <a:ea typeface="Calibri" pitchFamily="34" charset="-122"/>
                <a:cs typeface="Calibri" pitchFamily="34" charset="-120"/>
              </a:rPr>
              <a:t>João escolhe a Curva do Diabo. Não é acidente. Quando o jogador também escolhe "esquerda" na corrida 3 (sob POV do João), ele está sentindo o impulso suicida do João. O RNG honesto é, na verdade, sintoma de depressão.</a:t>
            </a:r>
            <a:endParaRPr lang="en-US" sz="1200" dirty="0"/>
          </a:p>
        </p:txBody>
      </p:sp>
      <p:sp>
        <p:nvSpPr>
          <p:cNvPr id="15" name="Text 13"/>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16" name="Text 14"/>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7  •  PROTAGONISTA</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João/Johnny — anedonia como hiperação</a:t>
            </a:r>
            <a:endParaRPr lang="en-US" sz="3400" dirty="0"/>
          </a:p>
        </p:txBody>
      </p:sp>
      <p:sp>
        <p:nvSpPr>
          <p:cNvPr id="5" name="Text 3"/>
          <p:cNvSpPr/>
          <p:nvPr/>
        </p:nvSpPr>
        <p:spPr>
          <a:xfrm>
            <a:off x="822960" y="1783080"/>
            <a:ext cx="4572000" cy="274320"/>
          </a:xfrm>
          <a:prstGeom prst="rect">
            <a:avLst/>
          </a:prstGeom>
          <a:noFill/>
          <a:ln/>
        </p:spPr>
        <p:txBody>
          <a:bodyPr wrap="square" lIns="0" tIns="0" rIns="0" bIns="0" rtlCol="0" anchor="ctr"/>
          <a:lstStyle/>
          <a:p>
            <a:pPr indent="0" marL="0">
              <a:buNone/>
            </a:pPr>
            <a:r>
              <a:rPr lang="en-US" sz="1000" b="1" spc="500" kern="0" dirty="0">
                <a:solidFill>
                  <a:srgbClr val="B22222"/>
                </a:solidFill>
                <a:latin typeface="Calibri" pitchFamily="34" charset="0"/>
                <a:ea typeface="Calibri" pitchFamily="34" charset="-122"/>
                <a:cs typeface="Calibri" pitchFamily="34" charset="-120"/>
              </a:rPr>
              <a:t>FICHA</a:t>
            </a:r>
            <a:endParaRPr lang="en-US" sz="1000" dirty="0"/>
          </a:p>
        </p:txBody>
      </p:sp>
      <p:sp>
        <p:nvSpPr>
          <p:cNvPr id="6" name="Text 4"/>
          <p:cNvSpPr/>
          <p:nvPr/>
        </p:nvSpPr>
        <p:spPr>
          <a:xfrm>
            <a:off x="822960" y="2103120"/>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Nome</a:t>
            </a:r>
            <a:endParaRPr lang="en-US" sz="1100" dirty="0"/>
          </a:p>
        </p:txBody>
      </p:sp>
      <p:sp>
        <p:nvSpPr>
          <p:cNvPr id="7" name="Text 5"/>
          <p:cNvSpPr/>
          <p:nvPr/>
        </p:nvSpPr>
        <p:spPr>
          <a:xfrm>
            <a:off x="2651760" y="2103120"/>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João Roberto ("Johnny")</a:t>
            </a:r>
            <a:endParaRPr lang="en-US" sz="1100" dirty="0"/>
          </a:p>
        </p:txBody>
      </p:sp>
      <p:sp>
        <p:nvSpPr>
          <p:cNvPr id="8" name="Text 6"/>
          <p:cNvSpPr/>
          <p:nvPr/>
        </p:nvSpPr>
        <p:spPr>
          <a:xfrm>
            <a:off x="822960" y="2432304"/>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Idade</a:t>
            </a:r>
            <a:endParaRPr lang="en-US" sz="1100" dirty="0"/>
          </a:p>
        </p:txBody>
      </p:sp>
      <p:sp>
        <p:nvSpPr>
          <p:cNvPr id="9" name="Text 7"/>
          <p:cNvSpPr/>
          <p:nvPr/>
        </p:nvSpPr>
        <p:spPr>
          <a:xfrm>
            <a:off x="2651760" y="2432304"/>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16 anos</a:t>
            </a:r>
            <a:endParaRPr lang="en-US" sz="1100" dirty="0"/>
          </a:p>
        </p:txBody>
      </p:sp>
      <p:sp>
        <p:nvSpPr>
          <p:cNvPr id="10" name="Text 8"/>
          <p:cNvSpPr/>
          <p:nvPr/>
        </p:nvSpPr>
        <p:spPr>
          <a:xfrm>
            <a:off x="822960" y="2761488"/>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Cenário</a:t>
            </a:r>
            <a:endParaRPr lang="en-US" sz="1100" dirty="0"/>
          </a:p>
        </p:txBody>
      </p:sp>
      <p:sp>
        <p:nvSpPr>
          <p:cNvPr id="11" name="Text 9"/>
          <p:cNvSpPr/>
          <p:nvPr/>
        </p:nvSpPr>
        <p:spPr>
          <a:xfrm>
            <a:off x="2651760" y="2761488"/>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Asa Sul, Brasília, 1986</a:t>
            </a:r>
            <a:endParaRPr lang="en-US" sz="1100" dirty="0"/>
          </a:p>
        </p:txBody>
      </p:sp>
      <p:sp>
        <p:nvSpPr>
          <p:cNvPr id="12" name="Text 10"/>
          <p:cNvSpPr/>
          <p:nvPr/>
        </p:nvSpPr>
        <p:spPr>
          <a:xfrm>
            <a:off x="822960" y="3090672"/>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Carro</a:t>
            </a:r>
            <a:endParaRPr lang="en-US" sz="1100" dirty="0"/>
          </a:p>
        </p:txBody>
      </p:sp>
      <p:sp>
        <p:nvSpPr>
          <p:cNvPr id="13" name="Text 11"/>
          <p:cNvSpPr/>
          <p:nvPr/>
        </p:nvSpPr>
        <p:spPr>
          <a:xfrm>
            <a:off x="2651760" y="3090672"/>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Opala azul metálico (V8)</a:t>
            </a:r>
            <a:endParaRPr lang="en-US" sz="1100" dirty="0"/>
          </a:p>
        </p:txBody>
      </p:sp>
      <p:sp>
        <p:nvSpPr>
          <p:cNvPr id="14" name="Text 12"/>
          <p:cNvSpPr/>
          <p:nvPr/>
        </p:nvSpPr>
        <p:spPr>
          <a:xfrm>
            <a:off x="822960" y="3419856"/>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Identidade</a:t>
            </a:r>
            <a:endParaRPr lang="en-US" sz="1100" dirty="0"/>
          </a:p>
        </p:txBody>
      </p:sp>
      <p:sp>
        <p:nvSpPr>
          <p:cNvPr id="15" name="Text 13"/>
          <p:cNvSpPr/>
          <p:nvPr/>
        </p:nvSpPr>
        <p:spPr>
          <a:xfrm>
            <a:off x="2651760" y="3419856"/>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Rocker — Zeppelin, Beatles, The Smiths</a:t>
            </a:r>
            <a:endParaRPr lang="en-US" sz="1100" dirty="0"/>
          </a:p>
        </p:txBody>
      </p:sp>
      <p:sp>
        <p:nvSpPr>
          <p:cNvPr id="16" name="Text 14"/>
          <p:cNvSpPr/>
          <p:nvPr/>
        </p:nvSpPr>
        <p:spPr>
          <a:xfrm>
            <a:off x="822960" y="3749040"/>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Status público</a:t>
            </a:r>
            <a:endParaRPr lang="en-US" sz="1100" dirty="0"/>
          </a:p>
        </p:txBody>
      </p:sp>
      <p:sp>
        <p:nvSpPr>
          <p:cNvPr id="17" name="Text 15"/>
          <p:cNvSpPr/>
          <p:nvPr/>
        </p:nvSpPr>
        <p:spPr>
          <a:xfrm>
            <a:off x="2651760" y="3749040"/>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"Rei dos pega", carismático</a:t>
            </a:r>
            <a:endParaRPr lang="en-US" sz="1100" dirty="0"/>
          </a:p>
        </p:txBody>
      </p:sp>
      <p:sp>
        <p:nvSpPr>
          <p:cNvPr id="18" name="Text 16"/>
          <p:cNvSpPr/>
          <p:nvPr/>
        </p:nvSpPr>
        <p:spPr>
          <a:xfrm>
            <a:off x="822960" y="4078224"/>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Status real</a:t>
            </a:r>
            <a:endParaRPr lang="en-US" sz="1100" dirty="0"/>
          </a:p>
        </p:txBody>
      </p:sp>
      <p:sp>
        <p:nvSpPr>
          <p:cNvPr id="19" name="Text 17"/>
          <p:cNvSpPr/>
          <p:nvPr/>
        </p:nvSpPr>
        <p:spPr>
          <a:xfrm>
            <a:off x="2651760" y="4078224"/>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Coração partido → depressão mascarada</a:t>
            </a:r>
            <a:endParaRPr lang="en-US" sz="1100" dirty="0"/>
          </a:p>
        </p:txBody>
      </p:sp>
      <p:sp>
        <p:nvSpPr>
          <p:cNvPr id="20" name="Text 18"/>
          <p:cNvSpPr/>
          <p:nvPr/>
        </p:nvSpPr>
        <p:spPr>
          <a:xfrm>
            <a:off x="822960" y="4407408"/>
            <a:ext cx="1828800" cy="274320"/>
          </a:xfrm>
          <a:prstGeom prst="rect">
            <a:avLst/>
          </a:prstGeom>
          <a:noFill/>
          <a:ln/>
        </p:spPr>
        <p:txBody>
          <a:bodyPr wrap="square" lIns="0" tIns="0" rIns="0" bIns="0" rtlCol="0" anchor="ctr"/>
          <a:lstStyle/>
          <a:p>
            <a:pPr indent="0" marL="0">
              <a:buNone/>
            </a:pPr>
            <a:r>
              <a:rPr lang="en-US" sz="1100" b="1" dirty="0">
                <a:solidFill>
                  <a:srgbClr val="C9B68A"/>
                </a:solidFill>
                <a:latin typeface="Calibri" pitchFamily="34" charset="0"/>
                <a:ea typeface="Calibri" pitchFamily="34" charset="-122"/>
                <a:cs typeface="Calibri" pitchFamily="34" charset="-120"/>
              </a:rPr>
              <a:t>Arco</a:t>
            </a:r>
            <a:endParaRPr lang="en-US" sz="1100" dirty="0"/>
          </a:p>
        </p:txBody>
      </p:sp>
      <p:sp>
        <p:nvSpPr>
          <p:cNvPr id="21" name="Text 19"/>
          <p:cNvSpPr/>
          <p:nvPr/>
        </p:nvSpPr>
        <p:spPr>
          <a:xfrm>
            <a:off x="2651760" y="4407408"/>
            <a:ext cx="4297680" cy="27432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Lenda → Rachadura → Abismo</a:t>
            </a:r>
            <a:endParaRPr lang="en-US" sz="1100" dirty="0"/>
          </a:p>
        </p:txBody>
      </p:sp>
      <p:sp>
        <p:nvSpPr>
          <p:cNvPr id="22" name="Text 20"/>
          <p:cNvSpPr/>
          <p:nvPr/>
        </p:nvSpPr>
        <p:spPr>
          <a:xfrm>
            <a:off x="7315200" y="1783080"/>
            <a:ext cx="4114800" cy="274320"/>
          </a:xfrm>
          <a:prstGeom prst="rect">
            <a:avLst/>
          </a:prstGeom>
          <a:noFill/>
          <a:ln/>
        </p:spPr>
        <p:txBody>
          <a:bodyPr wrap="square" lIns="0" tIns="0" rIns="0" bIns="0" rtlCol="0" anchor="ctr"/>
          <a:lstStyle/>
          <a:p>
            <a:pPr indent="0" marL="0">
              <a:buNone/>
            </a:pPr>
            <a:r>
              <a:rPr lang="en-US" sz="1000" b="1" spc="500" kern="0" dirty="0">
                <a:solidFill>
                  <a:srgbClr val="B22222"/>
                </a:solidFill>
                <a:latin typeface="Calibri" pitchFamily="34" charset="0"/>
                <a:ea typeface="Calibri" pitchFamily="34" charset="-122"/>
                <a:cs typeface="Calibri" pitchFamily="34" charset="-120"/>
              </a:rPr>
              <a:t>FALAS (a máscara rachando)</a:t>
            </a:r>
            <a:endParaRPr lang="en-US" sz="1000" dirty="0"/>
          </a:p>
        </p:txBody>
      </p:sp>
      <p:sp>
        <p:nvSpPr>
          <p:cNvPr id="23" name="Shape 21"/>
          <p:cNvSpPr/>
          <p:nvPr/>
        </p:nvSpPr>
        <p:spPr>
          <a:xfrm>
            <a:off x="7315200" y="2103120"/>
            <a:ext cx="4114800" cy="868680"/>
          </a:xfrm>
          <a:prstGeom prst="rect">
            <a:avLst/>
          </a:prstGeom>
          <a:solidFill>
            <a:srgbClr val="332A22"/>
          </a:solidFill>
          <a:ln w="12700">
            <a:solidFill>
              <a:srgbClr val="2A221B"/>
            </a:solidFill>
            <a:prstDash val="solid"/>
          </a:ln>
        </p:spPr>
      </p:sp>
      <p:sp>
        <p:nvSpPr>
          <p:cNvPr id="24" name="Text 22"/>
          <p:cNvSpPr/>
          <p:nvPr/>
        </p:nvSpPr>
        <p:spPr>
          <a:xfrm>
            <a:off x="7452360" y="2194560"/>
            <a:ext cx="384048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Corrida 1</a:t>
            </a:r>
            <a:endParaRPr lang="en-US" sz="900" dirty="0"/>
          </a:p>
        </p:txBody>
      </p:sp>
      <p:sp>
        <p:nvSpPr>
          <p:cNvPr id="25" name="Text 23"/>
          <p:cNvSpPr/>
          <p:nvPr/>
        </p:nvSpPr>
        <p:spPr>
          <a:xfrm>
            <a:off x="7452360" y="2423160"/>
            <a:ext cx="3840480" cy="502920"/>
          </a:xfrm>
          <a:prstGeom prst="rect">
            <a:avLst/>
          </a:prstGeom>
          <a:noFill/>
          <a:ln/>
        </p:spPr>
        <p:txBody>
          <a:bodyPr wrap="square" lIns="0" tIns="0" rIns="0" bIns="0" rtlCol="0" anchor="ctr"/>
          <a:lstStyle/>
          <a:p>
            <a:pPr indent="0" marL="0">
              <a:buNone/>
            </a:pPr>
            <a:r>
              <a:rPr lang="en-US" sz="1100" i="1" dirty="0">
                <a:solidFill>
                  <a:srgbClr val="F0E2C1"/>
                </a:solidFill>
                <a:latin typeface="Georgia" pitchFamily="34" charset="0"/>
                <a:ea typeface="Georgia" pitchFamily="34" charset="-122"/>
                <a:cs typeface="Georgia" pitchFamily="34" charset="-120"/>
              </a:rPr>
              <a:t>"BORA CARA! BORA! HOJE A GENTE DETONA O EIXÃO! Haha!"</a:t>
            </a:r>
            <a:endParaRPr lang="en-US" sz="1100" dirty="0"/>
          </a:p>
        </p:txBody>
      </p:sp>
      <p:sp>
        <p:nvSpPr>
          <p:cNvPr id="26" name="Shape 24"/>
          <p:cNvSpPr/>
          <p:nvPr/>
        </p:nvSpPr>
        <p:spPr>
          <a:xfrm>
            <a:off x="7315200" y="3063240"/>
            <a:ext cx="4114800" cy="868680"/>
          </a:xfrm>
          <a:prstGeom prst="rect">
            <a:avLst/>
          </a:prstGeom>
          <a:solidFill>
            <a:srgbClr val="332A22"/>
          </a:solidFill>
          <a:ln w="12700">
            <a:solidFill>
              <a:srgbClr val="2A221B"/>
            </a:solidFill>
            <a:prstDash val="solid"/>
          </a:ln>
        </p:spPr>
      </p:sp>
      <p:sp>
        <p:nvSpPr>
          <p:cNvPr id="27" name="Text 25"/>
          <p:cNvSpPr/>
          <p:nvPr/>
        </p:nvSpPr>
        <p:spPr>
          <a:xfrm>
            <a:off x="7452360" y="3154680"/>
            <a:ext cx="384048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Corrida 2</a:t>
            </a:r>
            <a:endParaRPr lang="en-US" sz="900" dirty="0"/>
          </a:p>
        </p:txBody>
      </p:sp>
      <p:sp>
        <p:nvSpPr>
          <p:cNvPr id="28" name="Text 26"/>
          <p:cNvSpPr/>
          <p:nvPr/>
        </p:nvSpPr>
        <p:spPr>
          <a:xfrm>
            <a:off x="7452360" y="3383280"/>
            <a:ext cx="3840480" cy="502920"/>
          </a:xfrm>
          <a:prstGeom prst="rect">
            <a:avLst/>
          </a:prstGeom>
          <a:noFill/>
          <a:ln/>
        </p:spPr>
        <p:txBody>
          <a:bodyPr wrap="square" lIns="0" tIns="0" rIns="0" bIns="0" rtlCol="0" anchor="ctr"/>
          <a:lstStyle/>
          <a:p>
            <a:pPr indent="0" marL="0">
              <a:buNone/>
            </a:pPr>
            <a:r>
              <a:rPr lang="en-US" sz="1100" i="1" dirty="0">
                <a:solidFill>
                  <a:srgbClr val="F0E2C1"/>
                </a:solidFill>
                <a:latin typeface="Georgia" pitchFamily="34" charset="0"/>
                <a:ea typeface="Georgia" pitchFamily="34" charset="-122"/>
                <a:cs typeface="Georgia" pitchFamily="34" charset="-120"/>
              </a:rPr>
              <a:t>"Tá tudo massa, tá tudo perfeito, tá tudo... sabe. Bora."</a:t>
            </a:r>
            <a:endParaRPr lang="en-US" sz="1100" dirty="0"/>
          </a:p>
        </p:txBody>
      </p:sp>
      <p:sp>
        <p:nvSpPr>
          <p:cNvPr id="29" name="Shape 27"/>
          <p:cNvSpPr/>
          <p:nvPr/>
        </p:nvSpPr>
        <p:spPr>
          <a:xfrm>
            <a:off x="7315200" y="4023360"/>
            <a:ext cx="4114800" cy="868680"/>
          </a:xfrm>
          <a:prstGeom prst="rect">
            <a:avLst/>
          </a:prstGeom>
          <a:solidFill>
            <a:srgbClr val="332A22"/>
          </a:solidFill>
          <a:ln w="12700">
            <a:solidFill>
              <a:srgbClr val="2A221B"/>
            </a:solidFill>
            <a:prstDash val="solid"/>
          </a:ln>
        </p:spPr>
      </p:sp>
      <p:sp>
        <p:nvSpPr>
          <p:cNvPr id="30" name="Text 28"/>
          <p:cNvSpPr/>
          <p:nvPr/>
        </p:nvSpPr>
        <p:spPr>
          <a:xfrm>
            <a:off x="7452360" y="4114800"/>
            <a:ext cx="384048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Corrida 3</a:t>
            </a:r>
            <a:endParaRPr lang="en-US" sz="900" dirty="0"/>
          </a:p>
        </p:txBody>
      </p:sp>
      <p:sp>
        <p:nvSpPr>
          <p:cNvPr id="31" name="Text 29"/>
          <p:cNvSpPr/>
          <p:nvPr/>
        </p:nvSpPr>
        <p:spPr>
          <a:xfrm>
            <a:off x="7452360" y="4343400"/>
            <a:ext cx="3840480" cy="502920"/>
          </a:xfrm>
          <a:prstGeom prst="rect">
            <a:avLst/>
          </a:prstGeom>
          <a:noFill/>
          <a:ln/>
        </p:spPr>
        <p:txBody>
          <a:bodyPr wrap="square" lIns="0" tIns="0" rIns="0" bIns="0" rtlCol="0" anchor="ctr"/>
          <a:lstStyle/>
          <a:p>
            <a:pPr indent="0" marL="0">
              <a:buNone/>
            </a:pPr>
            <a:r>
              <a:rPr lang="en-US" sz="1100" i="1" dirty="0">
                <a:solidFill>
                  <a:srgbClr val="F0E2C1"/>
                </a:solidFill>
                <a:latin typeface="Georgia" pitchFamily="34" charset="0"/>
                <a:ea typeface="Georgia" pitchFamily="34" charset="-122"/>
                <a:cs typeface="Georgia" pitchFamily="34" charset="-120"/>
              </a:rPr>
              <a:t>"Essa é a última mesmo. A grande. Tô leve, tá ligado? Leve."</a:t>
            </a:r>
            <a:endParaRPr lang="en-US" sz="1100" dirty="0"/>
          </a:p>
        </p:txBody>
      </p:sp>
      <p:sp>
        <p:nvSpPr>
          <p:cNvPr id="32" name="Shape 30"/>
          <p:cNvSpPr/>
          <p:nvPr/>
        </p:nvSpPr>
        <p:spPr>
          <a:xfrm>
            <a:off x="822960" y="5577840"/>
            <a:ext cx="10972800" cy="777240"/>
          </a:xfrm>
          <a:prstGeom prst="rect">
            <a:avLst/>
          </a:prstGeom>
          <a:solidFill>
            <a:srgbClr val="3F342B"/>
          </a:solidFill>
          <a:ln w="12700">
            <a:solidFill>
              <a:srgbClr val="2A221B"/>
            </a:solidFill>
            <a:prstDash val="solid"/>
          </a:ln>
        </p:spPr>
      </p:sp>
      <p:sp>
        <p:nvSpPr>
          <p:cNvPr id="33" name="Text 31"/>
          <p:cNvSpPr/>
          <p:nvPr/>
        </p:nvSpPr>
        <p:spPr>
          <a:xfrm>
            <a:off x="1005840" y="5669280"/>
            <a:ext cx="10607040" cy="594360"/>
          </a:xfrm>
          <a:prstGeom prst="rect">
            <a:avLst/>
          </a:prstGeom>
          <a:noFill/>
          <a:ln/>
        </p:spPr>
        <p:txBody>
          <a:bodyPr wrap="square" lIns="0" tIns="0" rIns="0" bIns="0" rtlCol="0" anchor="ctr"/>
          <a:lstStyle/>
          <a:p>
            <a:pPr indent="0" marL="0">
              <a:buNone/>
            </a:pPr>
            <a:r>
              <a:rPr lang="en-US" sz="1100" b="1" dirty="0">
                <a:solidFill>
                  <a:srgbClr val="B22222"/>
                </a:solidFill>
                <a:latin typeface="Calibri" pitchFamily="34" charset="0"/>
                <a:ea typeface="Calibri" pitchFamily="34" charset="-122"/>
                <a:cs typeface="Calibri" pitchFamily="34" charset="-120"/>
              </a:rPr>
              <a:t xml:space="preserve">4 pistas ambientais (aleatorizadas por run): </a:t>
            </a:r>
            <a:pPr indent="0" marL="0">
              <a:buNone/>
            </a:pPr>
            <a:r>
              <a:rPr lang="en-US" sz="1100" dirty="0">
                <a:solidFill>
                  <a:srgbClr val="F0E2C1"/>
                </a:solidFill>
                <a:latin typeface="Calibri" pitchFamily="34" charset="0"/>
                <a:ea typeface="Calibri" pitchFamily="34" charset="-122"/>
                <a:cs typeface="Calibri" pitchFamily="34" charset="-120"/>
              </a:rPr>
              <a:t>Opala deteriora  •  Fita K7 muda de gênero (Plebe Rude → The Clash → Joy Division)  •  João entrega objetos  •  Abuso de substância visível.</a:t>
            </a:r>
            <a:endParaRPr lang="en-US" sz="1100" dirty="0"/>
          </a:p>
        </p:txBody>
      </p:sp>
      <p:sp>
        <p:nvSpPr>
          <p:cNvPr id="34" name="Text 32"/>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35" name="Text 33"/>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8  •  O JOGADOR</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Você é o melhor amigo. Silent protagonist.</a:t>
            </a:r>
            <a:endParaRPr lang="en-US" sz="3400" dirty="0"/>
          </a:p>
        </p:txBody>
      </p:sp>
      <p:sp>
        <p:nvSpPr>
          <p:cNvPr id="5" name="Text 3"/>
          <p:cNvSpPr/>
          <p:nvPr/>
        </p:nvSpPr>
        <p:spPr>
          <a:xfrm>
            <a:off x="822960" y="1783080"/>
            <a:ext cx="5760720" cy="2286000"/>
          </a:xfrm>
          <a:prstGeom prst="rect">
            <a:avLst/>
          </a:prstGeom>
          <a:noFill/>
          <a:ln/>
        </p:spPr>
        <p:txBody>
          <a:bodyPr wrap="square" lIns="0" tIns="0" rIns="0" bIns="0" rtlCol="0" anchor="ctr"/>
          <a:lstStyle/>
          <a:p>
            <a:pPr indent="0" marL="0">
              <a:spcAft>
                <a:spcPts val="800"/>
              </a:spcAft>
              <a:buNone/>
            </a:pPr>
            <a:r>
              <a:rPr lang="en-US" sz="1200" b="1" dirty="0">
                <a:solidFill>
                  <a:srgbClr val="F0E2C1"/>
                </a:solidFill>
                <a:latin typeface="Calibri" pitchFamily="34" charset="0"/>
                <a:ea typeface="Calibri" pitchFamily="34" charset="-122"/>
                <a:cs typeface="Calibri" pitchFamily="34" charset="-120"/>
              </a:rPr>
              <a:t xml:space="preserve">Nas cenas VN, </a:t>
            </a:r>
            <a:pPr indent="0" marL="0">
              <a:spcAft>
                <a:spcPts val="800"/>
              </a:spcAft>
              <a:buNone/>
            </a:pPr>
            <a:r>
              <a:rPr lang="en-US" sz="1200" dirty="0">
                <a:solidFill>
                  <a:srgbClr val="C9B68A"/>
                </a:solidFill>
                <a:latin typeface="Calibri" pitchFamily="34" charset="0"/>
                <a:ea typeface="Calibri" pitchFamily="34" charset="-122"/>
                <a:cs typeface="Calibri" pitchFamily="34" charset="-120"/>
              </a:rPr>
              <a:t>você dialoga com João. Escolhas únicas por cena (sem arquétipos fixos).</a:t>
            </a:r>
            <a:endParaRPr lang="en-US" sz="1200" dirty="0"/>
          </a:p>
          <a:p>
            <a:pPr indent="0" marL="0">
              <a:spcAft>
                <a:spcPts val="800"/>
              </a:spcAft>
              <a:buNone/>
            </a:pPr>
            <a:r>
              <a:rPr lang="en-US" sz="1200" b="1" dirty="0">
                <a:solidFill>
                  <a:srgbClr val="F0E2C1"/>
                </a:solidFill>
                <a:latin typeface="Calibri" pitchFamily="34" charset="0"/>
                <a:ea typeface="Calibri" pitchFamily="34" charset="-122"/>
                <a:cs typeface="Calibri" pitchFamily="34" charset="-120"/>
              </a:rPr>
              <a:t xml:space="preserve">Nas corridas, </a:t>
            </a:r>
            <a:endParaRPr lang="en-US" sz="1200" dirty="0"/>
          </a:p>
          <a:p>
            <a:pPr indent="0" marL="0">
              <a:spcAft>
                <a:spcPts val="800"/>
              </a:spcAft>
              <a:buNone/>
            </a:pPr>
            <a:r>
              <a:rPr lang="en-US" sz="1200" dirty="0">
                <a:solidFill>
                  <a:srgbClr val="C9B68A"/>
                </a:solidFill>
                <a:latin typeface="Calibri" pitchFamily="34" charset="0"/>
                <a:ea typeface="Calibri" pitchFamily="34" charset="-122"/>
                <a:cs typeface="Calibri" pitchFamily="34" charset="-120"/>
              </a:rPr>
              <a:t>você "vira" o João por alguns segundos — dissociação narrativa. Sente o impulso dele.</a:t>
            </a:r>
            <a:endParaRPr lang="en-US" sz="1200" dirty="0"/>
          </a:p>
          <a:p>
            <a:pPr indent="0" marL="0">
              <a:spcAft>
                <a:spcPts val="800"/>
              </a:spcAft>
              <a:buNone/>
            </a:pPr>
            <a:r>
              <a:rPr lang="en-US" sz="1200" b="1" dirty="0">
                <a:solidFill>
                  <a:srgbClr val="F0E2C1"/>
                </a:solidFill>
                <a:latin typeface="Calibri" pitchFamily="34" charset="0"/>
                <a:ea typeface="Calibri" pitchFamily="34" charset="-122"/>
                <a:cs typeface="Calibri" pitchFamily="34" charset="-120"/>
              </a:rPr>
              <a:t xml:space="preserve">Sua densidade </a:t>
            </a:r>
            <a:endParaRPr lang="en-US" sz="1200" dirty="0"/>
          </a:p>
          <a:p>
            <a:pPr indent="0" marL="0">
              <a:spcAft>
                <a:spcPts val="800"/>
              </a:spcAft>
              <a:buNone/>
            </a:pPr>
            <a:r>
              <a:rPr lang="en-US" sz="1200" dirty="0">
                <a:solidFill>
                  <a:srgbClr val="C9B68A"/>
                </a:solidFill>
                <a:latin typeface="Calibri" pitchFamily="34" charset="0"/>
                <a:ea typeface="Calibri" pitchFamily="34" charset="-122"/>
                <a:cs typeface="Calibri" pitchFamily="34" charset="-120"/>
              </a:rPr>
              <a:t>vem do histórico de escolhas. Um jogador cúmplice vê opções diferentes de um jogador confrontador.</a:t>
            </a:r>
            <a:endParaRPr lang="en-US" sz="1200" dirty="0"/>
          </a:p>
        </p:txBody>
      </p:sp>
      <p:sp>
        <p:nvSpPr>
          <p:cNvPr id="6" name="Text 4"/>
          <p:cNvSpPr/>
          <p:nvPr/>
        </p:nvSpPr>
        <p:spPr>
          <a:xfrm>
            <a:off x="6949440" y="1783080"/>
            <a:ext cx="457200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CONCERNSCORE — variável oculta 0–100</a:t>
            </a:r>
            <a:endParaRPr lang="en-US" sz="1000" dirty="0"/>
          </a:p>
        </p:txBody>
      </p:sp>
      <p:sp>
        <p:nvSpPr>
          <p:cNvPr id="7" name="Shape 5"/>
          <p:cNvSpPr/>
          <p:nvPr/>
        </p:nvSpPr>
        <p:spPr>
          <a:xfrm>
            <a:off x="6949440" y="2103120"/>
            <a:ext cx="4846320" cy="777240"/>
          </a:xfrm>
          <a:prstGeom prst="rect">
            <a:avLst/>
          </a:prstGeom>
          <a:solidFill>
            <a:srgbClr val="332A22"/>
          </a:solidFill>
          <a:ln w="12700">
            <a:solidFill>
              <a:srgbClr val="2A221B"/>
            </a:solidFill>
            <a:prstDash val="solid"/>
          </a:ln>
        </p:spPr>
      </p:sp>
      <p:sp>
        <p:nvSpPr>
          <p:cNvPr id="8" name="Shape 6"/>
          <p:cNvSpPr/>
          <p:nvPr/>
        </p:nvSpPr>
        <p:spPr>
          <a:xfrm>
            <a:off x="6949440" y="2103120"/>
            <a:ext cx="91440" cy="777240"/>
          </a:xfrm>
          <a:prstGeom prst="rect">
            <a:avLst/>
          </a:prstGeom>
          <a:solidFill>
            <a:srgbClr val="5C5043"/>
          </a:solidFill>
          <a:ln w="12700">
            <a:solidFill>
              <a:srgbClr val="2A221B"/>
            </a:solidFill>
            <a:prstDash val="solid"/>
          </a:ln>
        </p:spPr>
      </p:sp>
      <p:sp>
        <p:nvSpPr>
          <p:cNvPr id="9" name="Text 7"/>
          <p:cNvSpPr/>
          <p:nvPr/>
        </p:nvSpPr>
        <p:spPr>
          <a:xfrm>
            <a:off x="7178040" y="2194560"/>
            <a:ext cx="4572000" cy="274320"/>
          </a:xfrm>
          <a:prstGeom prst="rect">
            <a:avLst/>
          </a:prstGeom>
          <a:noFill/>
          <a:ln/>
        </p:spPr>
        <p:txBody>
          <a:bodyPr wrap="square" lIns="0" tIns="0" rIns="0" bIns="0" rtlCol="0" anchor="ctr"/>
          <a:lstStyle/>
          <a:p>
            <a:pPr indent="0" marL="0">
              <a:buNone/>
            </a:pPr>
            <a:r>
              <a:rPr lang="en-US" sz="1400" b="1" dirty="0">
                <a:solidFill>
                  <a:srgbClr val="F0E2C1"/>
                </a:solidFill>
                <a:latin typeface="Calibri" pitchFamily="34" charset="0"/>
                <a:ea typeface="Calibri" pitchFamily="34" charset="-122"/>
                <a:cs typeface="Calibri" pitchFamily="34" charset="-120"/>
              </a:rPr>
              <a:t xml:space="preserve">0–33  </a:t>
            </a:r>
            <a:pPr indent="0" marL="0">
              <a:buNone/>
            </a:pPr>
            <a:r>
              <a:rPr lang="en-US" sz="1200" b="1" spc="300" kern="0" dirty="0">
                <a:solidFill>
                  <a:srgbClr val="C9B68A"/>
                </a:solidFill>
                <a:latin typeface="Calibri" pitchFamily="34" charset="0"/>
                <a:ea typeface="Calibri" pitchFamily="34" charset="-122"/>
                <a:cs typeface="Calibri" pitchFamily="34" charset="-120"/>
              </a:rPr>
              <a:t>BAIXO</a:t>
            </a:r>
            <a:endParaRPr lang="en-US" sz="1400" dirty="0"/>
          </a:p>
        </p:txBody>
      </p:sp>
      <p:sp>
        <p:nvSpPr>
          <p:cNvPr id="10" name="Text 8"/>
          <p:cNvSpPr/>
          <p:nvPr/>
        </p:nvSpPr>
        <p:spPr>
          <a:xfrm>
            <a:off x="7178040" y="2468880"/>
            <a:ext cx="457200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Opções básicas. Cena de intervenção não aparece. → Final 1.</a:t>
            </a:r>
            <a:endParaRPr lang="en-US" sz="1000" dirty="0"/>
          </a:p>
        </p:txBody>
      </p:sp>
      <p:sp>
        <p:nvSpPr>
          <p:cNvPr id="11" name="Shape 9"/>
          <p:cNvSpPr/>
          <p:nvPr/>
        </p:nvSpPr>
        <p:spPr>
          <a:xfrm>
            <a:off x="6949440" y="2971800"/>
            <a:ext cx="4846320" cy="777240"/>
          </a:xfrm>
          <a:prstGeom prst="rect">
            <a:avLst/>
          </a:prstGeom>
          <a:solidFill>
            <a:srgbClr val="332A22"/>
          </a:solidFill>
          <a:ln w="12700">
            <a:solidFill>
              <a:srgbClr val="2A221B"/>
            </a:solidFill>
            <a:prstDash val="solid"/>
          </a:ln>
        </p:spPr>
      </p:sp>
      <p:sp>
        <p:nvSpPr>
          <p:cNvPr id="12" name="Shape 10"/>
          <p:cNvSpPr/>
          <p:nvPr/>
        </p:nvSpPr>
        <p:spPr>
          <a:xfrm>
            <a:off x="6949440" y="2971800"/>
            <a:ext cx="91440" cy="777240"/>
          </a:xfrm>
          <a:prstGeom prst="rect">
            <a:avLst/>
          </a:prstGeom>
          <a:solidFill>
            <a:srgbClr val="C9B68A"/>
          </a:solidFill>
          <a:ln w="12700">
            <a:solidFill>
              <a:srgbClr val="2A221B"/>
            </a:solidFill>
            <a:prstDash val="solid"/>
          </a:ln>
        </p:spPr>
      </p:sp>
      <p:sp>
        <p:nvSpPr>
          <p:cNvPr id="13" name="Text 11"/>
          <p:cNvSpPr/>
          <p:nvPr/>
        </p:nvSpPr>
        <p:spPr>
          <a:xfrm>
            <a:off x="7178040" y="3063240"/>
            <a:ext cx="4572000" cy="274320"/>
          </a:xfrm>
          <a:prstGeom prst="rect">
            <a:avLst/>
          </a:prstGeom>
          <a:noFill/>
          <a:ln/>
        </p:spPr>
        <p:txBody>
          <a:bodyPr wrap="square" lIns="0" tIns="0" rIns="0" bIns="0" rtlCol="0" anchor="ctr"/>
          <a:lstStyle/>
          <a:p>
            <a:pPr indent="0" marL="0">
              <a:buNone/>
            </a:pPr>
            <a:r>
              <a:rPr lang="en-US" sz="1400" b="1" dirty="0">
                <a:solidFill>
                  <a:srgbClr val="F0E2C1"/>
                </a:solidFill>
                <a:latin typeface="Calibri" pitchFamily="34" charset="0"/>
                <a:ea typeface="Calibri" pitchFamily="34" charset="-122"/>
                <a:cs typeface="Calibri" pitchFamily="34" charset="-120"/>
              </a:rPr>
              <a:t xml:space="preserve">34–66  </a:t>
            </a:r>
            <a:pPr indent="0" marL="0">
              <a:buNone/>
            </a:pPr>
            <a:r>
              <a:rPr lang="en-US" sz="1200" b="1" spc="300" kern="0" dirty="0">
                <a:solidFill>
                  <a:srgbClr val="F0E2C1"/>
                </a:solidFill>
                <a:latin typeface="Calibri" pitchFamily="34" charset="0"/>
                <a:ea typeface="Calibri" pitchFamily="34" charset="-122"/>
                <a:cs typeface="Calibri" pitchFamily="34" charset="-120"/>
              </a:rPr>
              <a:t>MÉDIO</a:t>
            </a:r>
            <a:endParaRPr lang="en-US" sz="1400" dirty="0"/>
          </a:p>
        </p:txBody>
      </p:sp>
      <p:sp>
        <p:nvSpPr>
          <p:cNvPr id="14" name="Text 12"/>
          <p:cNvSpPr/>
          <p:nvPr/>
        </p:nvSpPr>
        <p:spPr>
          <a:xfrm>
            <a:off x="7178040" y="3337560"/>
            <a:ext cx="457200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Cena aparece, mas João não acredita. → Final 3.</a:t>
            </a:r>
            <a:endParaRPr lang="en-US" sz="1000" dirty="0"/>
          </a:p>
        </p:txBody>
      </p:sp>
      <p:sp>
        <p:nvSpPr>
          <p:cNvPr id="15" name="Shape 13"/>
          <p:cNvSpPr/>
          <p:nvPr/>
        </p:nvSpPr>
        <p:spPr>
          <a:xfrm>
            <a:off x="6949440" y="3840480"/>
            <a:ext cx="4846320" cy="777240"/>
          </a:xfrm>
          <a:prstGeom prst="rect">
            <a:avLst/>
          </a:prstGeom>
          <a:solidFill>
            <a:srgbClr val="332A22"/>
          </a:solidFill>
          <a:ln w="12700">
            <a:solidFill>
              <a:srgbClr val="2A221B"/>
            </a:solidFill>
            <a:prstDash val="solid"/>
          </a:ln>
        </p:spPr>
      </p:sp>
      <p:sp>
        <p:nvSpPr>
          <p:cNvPr id="16" name="Shape 14"/>
          <p:cNvSpPr/>
          <p:nvPr/>
        </p:nvSpPr>
        <p:spPr>
          <a:xfrm>
            <a:off x="6949440" y="3840480"/>
            <a:ext cx="91440" cy="777240"/>
          </a:xfrm>
          <a:prstGeom prst="rect">
            <a:avLst/>
          </a:prstGeom>
          <a:solidFill>
            <a:srgbClr val="8B0000"/>
          </a:solidFill>
          <a:ln w="12700">
            <a:solidFill>
              <a:srgbClr val="2A221B"/>
            </a:solidFill>
            <a:prstDash val="solid"/>
          </a:ln>
        </p:spPr>
      </p:sp>
      <p:sp>
        <p:nvSpPr>
          <p:cNvPr id="17" name="Text 15"/>
          <p:cNvSpPr/>
          <p:nvPr/>
        </p:nvSpPr>
        <p:spPr>
          <a:xfrm>
            <a:off x="7178040" y="3931920"/>
            <a:ext cx="4572000" cy="274320"/>
          </a:xfrm>
          <a:prstGeom prst="rect">
            <a:avLst/>
          </a:prstGeom>
          <a:noFill/>
          <a:ln/>
        </p:spPr>
        <p:txBody>
          <a:bodyPr wrap="square" lIns="0" tIns="0" rIns="0" bIns="0" rtlCol="0" anchor="ctr"/>
          <a:lstStyle/>
          <a:p>
            <a:pPr indent="0" marL="0">
              <a:buNone/>
            </a:pPr>
            <a:r>
              <a:rPr lang="en-US" sz="1400" b="1" dirty="0">
                <a:solidFill>
                  <a:srgbClr val="F0E2C1"/>
                </a:solidFill>
                <a:latin typeface="Calibri" pitchFamily="34" charset="0"/>
                <a:ea typeface="Calibri" pitchFamily="34" charset="-122"/>
                <a:cs typeface="Calibri" pitchFamily="34" charset="-120"/>
              </a:rPr>
              <a:t xml:space="preserve">67–100  </a:t>
            </a:r>
            <a:pPr indent="0" marL="0">
              <a:buNone/>
            </a:pPr>
            <a:r>
              <a:rPr lang="en-US" sz="1200" b="1" spc="300" kern="0" dirty="0">
                <a:solidFill>
                  <a:srgbClr val="B22222"/>
                </a:solidFill>
                <a:latin typeface="Calibri" pitchFamily="34" charset="0"/>
                <a:ea typeface="Calibri" pitchFamily="34" charset="-122"/>
                <a:cs typeface="Calibri" pitchFamily="34" charset="-120"/>
              </a:rPr>
              <a:t>ALTO</a:t>
            </a:r>
            <a:endParaRPr lang="en-US" sz="1400" dirty="0"/>
          </a:p>
        </p:txBody>
      </p:sp>
      <p:sp>
        <p:nvSpPr>
          <p:cNvPr id="18" name="Text 16"/>
          <p:cNvSpPr/>
          <p:nvPr/>
        </p:nvSpPr>
        <p:spPr>
          <a:xfrm>
            <a:off x="7178040" y="4206240"/>
            <a:ext cx="457200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Sabotar Opala destravada. → Final 2.</a:t>
            </a:r>
            <a:endParaRPr lang="en-US" sz="1000" dirty="0"/>
          </a:p>
        </p:txBody>
      </p:sp>
      <p:sp>
        <p:nvSpPr>
          <p:cNvPr id="19" name="Shape 17"/>
          <p:cNvSpPr/>
          <p:nvPr/>
        </p:nvSpPr>
        <p:spPr>
          <a:xfrm>
            <a:off x="822960" y="4937760"/>
            <a:ext cx="5760720" cy="1417320"/>
          </a:xfrm>
          <a:prstGeom prst="rect">
            <a:avLst/>
          </a:prstGeom>
          <a:solidFill>
            <a:srgbClr val="3F342B"/>
          </a:solidFill>
          <a:ln w="12700">
            <a:solidFill>
              <a:srgbClr val="2A221B"/>
            </a:solidFill>
            <a:prstDash val="solid"/>
          </a:ln>
        </p:spPr>
      </p:sp>
      <p:sp>
        <p:nvSpPr>
          <p:cNvPr id="20" name="Text 18"/>
          <p:cNvSpPr/>
          <p:nvPr/>
        </p:nvSpPr>
        <p:spPr>
          <a:xfrm>
            <a:off x="960120" y="5029200"/>
            <a:ext cx="548640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COMO ACUMULA</a:t>
            </a:r>
            <a:endParaRPr lang="en-US" sz="900" dirty="0"/>
          </a:p>
        </p:txBody>
      </p:sp>
      <p:sp>
        <p:nvSpPr>
          <p:cNvPr id="21" name="Text 19"/>
          <p:cNvSpPr/>
          <p:nvPr/>
        </p:nvSpPr>
        <p:spPr>
          <a:xfrm>
            <a:off x="960120" y="5303520"/>
            <a:ext cx="5486400" cy="100584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 xml:space="preserve">Escuta ativa </a:t>
            </a:r>
            <a:pPr indent="0" marL="0">
              <a:buNone/>
            </a:pPr>
            <a:r>
              <a:rPr lang="en-US" sz="1100" dirty="0">
                <a:solidFill>
                  <a:srgbClr val="C9B68A"/>
                </a:solidFill>
                <a:latin typeface="Calibri" pitchFamily="34" charset="0"/>
                <a:ea typeface="Calibri" pitchFamily="34" charset="-122"/>
                <a:cs typeface="Calibri" pitchFamily="34" charset="-120"/>
              </a:rPr>
              <a:t xml:space="preserve">(+5 a +10)  •  </a:t>
            </a:r>
            <a:pPr indent="0" marL="0">
              <a:buNone/>
            </a:pPr>
            <a:r>
              <a:rPr lang="en-US" sz="1100" b="1" dirty="0">
                <a:solidFill>
                  <a:srgbClr val="F0E2C1"/>
                </a:solidFill>
                <a:latin typeface="Calibri" pitchFamily="34" charset="0"/>
                <a:ea typeface="Calibri" pitchFamily="34" charset="-122"/>
                <a:cs typeface="Calibri" pitchFamily="34" charset="-120"/>
              </a:rPr>
              <a:t xml:space="preserve">Observação </a:t>
            </a:r>
            <a:pPr indent="0" marL="0">
              <a:buNone/>
            </a:pPr>
            <a:r>
              <a:rPr lang="en-US" sz="1100" dirty="0">
                <a:solidFill>
                  <a:srgbClr val="C9B68A"/>
                </a:solidFill>
                <a:latin typeface="Calibri" pitchFamily="34" charset="0"/>
                <a:ea typeface="Calibri" pitchFamily="34" charset="-122"/>
                <a:cs typeface="Calibri" pitchFamily="34" charset="-120"/>
              </a:rPr>
              <a:t xml:space="preserve">(+3 a +7)  •  </a:t>
            </a:r>
            <a:endParaRPr lang="en-US" sz="1100" dirty="0"/>
          </a:p>
          <a:p>
            <a:pPr indent="0" marL="0">
              <a:buNone/>
            </a:pPr>
            <a:r>
              <a:rPr lang="en-US" sz="1100" b="1" dirty="0">
                <a:solidFill>
                  <a:srgbClr val="F0E2C1"/>
                </a:solidFill>
                <a:latin typeface="Calibri" pitchFamily="34" charset="0"/>
                <a:ea typeface="Calibri" pitchFamily="34" charset="-122"/>
                <a:cs typeface="Calibri" pitchFamily="34" charset="-120"/>
              </a:rPr>
              <a:t xml:space="preserve">Confronto cuidadoso </a:t>
            </a:r>
            <a:pPr indent="0" marL="0">
              <a:buNone/>
            </a:pPr>
            <a:r>
              <a:rPr lang="en-US" sz="1100" dirty="0">
                <a:solidFill>
                  <a:srgbClr val="C9B68A"/>
                </a:solidFill>
                <a:latin typeface="Calibri" pitchFamily="34" charset="0"/>
                <a:ea typeface="Calibri" pitchFamily="34" charset="-122"/>
                <a:cs typeface="Calibri" pitchFamily="34" charset="-120"/>
              </a:rPr>
              <a:t xml:space="preserve">(+8 a +15)  •  </a:t>
            </a:r>
            <a:pPr indent="0" marL="0">
              <a:buNone/>
            </a:pPr>
            <a:r>
              <a:rPr lang="en-US" sz="1100" b="1" dirty="0">
                <a:solidFill>
                  <a:srgbClr val="F0E2C1"/>
                </a:solidFill>
                <a:latin typeface="Calibri" pitchFamily="34" charset="0"/>
                <a:ea typeface="Calibri" pitchFamily="34" charset="-122"/>
                <a:cs typeface="Calibri" pitchFamily="34" charset="-120"/>
              </a:rPr>
              <a:t xml:space="preserve">Cumplicidade </a:t>
            </a:r>
            <a:pPr indent="0" marL="0">
              <a:buNone/>
            </a:pPr>
            <a:r>
              <a:rPr lang="en-US" sz="1100" dirty="0">
                <a:solidFill>
                  <a:srgbClr val="C9B68A"/>
                </a:solidFill>
                <a:latin typeface="Calibri" pitchFamily="34" charset="0"/>
                <a:ea typeface="Calibri" pitchFamily="34" charset="-122"/>
                <a:cs typeface="Calibri" pitchFamily="34" charset="-120"/>
              </a:rPr>
              <a:t xml:space="preserve">(-3 a -8)  •  </a:t>
            </a:r>
            <a:endParaRPr lang="en-US" sz="1100" dirty="0"/>
          </a:p>
          <a:p>
            <a:pPr indent="0" marL="0">
              <a:buNone/>
            </a:pPr>
            <a:r>
              <a:rPr lang="en-US" sz="1100" b="1" dirty="0">
                <a:solidFill>
                  <a:srgbClr val="F0E2C1"/>
                </a:solidFill>
                <a:latin typeface="Calibri" pitchFamily="34" charset="0"/>
                <a:ea typeface="Calibri" pitchFamily="34" charset="-122"/>
                <a:cs typeface="Calibri" pitchFamily="34" charset="-120"/>
              </a:rPr>
              <a:t xml:space="preserve">Negação </a:t>
            </a:r>
            <a:pPr indent="0" marL="0">
              <a:buNone/>
            </a:pPr>
            <a:r>
              <a:rPr lang="en-US" sz="1100" dirty="0">
                <a:solidFill>
                  <a:srgbClr val="C9B68A"/>
                </a:solidFill>
                <a:latin typeface="Calibri" pitchFamily="34" charset="0"/>
                <a:ea typeface="Calibri" pitchFamily="34" charset="-122"/>
                <a:cs typeface="Calibri" pitchFamily="34" charset="-120"/>
              </a:rPr>
              <a:t>(-5 a -10).</a:t>
            </a:r>
            <a:endParaRPr lang="en-US" sz="1100" dirty="0"/>
          </a:p>
        </p:txBody>
      </p:sp>
      <p:sp>
        <p:nvSpPr>
          <p:cNvPr id="22" name="Shape 20"/>
          <p:cNvSpPr/>
          <p:nvPr/>
        </p:nvSpPr>
        <p:spPr>
          <a:xfrm>
            <a:off x="6949440" y="4937760"/>
            <a:ext cx="4846320" cy="1417320"/>
          </a:xfrm>
          <a:prstGeom prst="rect">
            <a:avLst/>
          </a:prstGeom>
          <a:solidFill>
            <a:srgbClr val="3F342B"/>
          </a:solidFill>
          <a:ln w="12700">
            <a:solidFill>
              <a:srgbClr val="2A221B"/>
            </a:solidFill>
            <a:prstDash val="solid"/>
          </a:ln>
        </p:spPr>
      </p:sp>
      <p:sp>
        <p:nvSpPr>
          <p:cNvPr id="23" name="Text 21"/>
          <p:cNvSpPr/>
          <p:nvPr/>
        </p:nvSpPr>
        <p:spPr>
          <a:xfrm>
            <a:off x="7086600" y="5029200"/>
            <a:ext cx="457200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INVISÍVEL PRO JOGADOR</a:t>
            </a:r>
            <a:endParaRPr lang="en-US" sz="900" dirty="0"/>
          </a:p>
        </p:txBody>
      </p:sp>
      <p:sp>
        <p:nvSpPr>
          <p:cNvPr id="24" name="Text 22"/>
          <p:cNvSpPr/>
          <p:nvPr/>
        </p:nvSpPr>
        <p:spPr>
          <a:xfrm>
            <a:off x="7086600" y="5303520"/>
            <a:ext cx="4572000" cy="1005840"/>
          </a:xfrm>
          <a:prstGeom prst="rect">
            <a:avLst/>
          </a:prstGeom>
          <a:noFill/>
          <a:ln/>
        </p:spPr>
        <p:txBody>
          <a:bodyPr wrap="square" lIns="0" tIns="0" rIns="0" bIns="0" rtlCol="0" anchor="ctr"/>
          <a:lstStyle/>
          <a:p>
            <a:pPr indent="0" marL="0">
              <a:buNone/>
            </a:pPr>
            <a:r>
              <a:rPr lang="en-US" sz="1200" i="1" dirty="0">
                <a:solidFill>
                  <a:srgbClr val="F0E2C1"/>
                </a:solidFill>
                <a:latin typeface="Georgia" pitchFamily="34" charset="0"/>
                <a:ea typeface="Georgia" pitchFamily="34" charset="-122"/>
                <a:cs typeface="Georgia" pitchFamily="34" charset="-120"/>
              </a:rPr>
              <a:t>Não há meter visível. O jogador só percebe que está preocupado via o jogo abrir ou fechar opções organicamente. O peso é sentido, não medido.</a:t>
            </a:r>
            <a:endParaRPr lang="en-US" sz="1200" dirty="0"/>
          </a:p>
        </p:txBody>
      </p:sp>
      <p:sp>
        <p:nvSpPr>
          <p:cNvPr id="25" name="Text 23"/>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26" name="Text 24"/>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9  •  ARCO NARRATIVO</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As três corridas</a:t>
            </a:r>
            <a:endParaRPr lang="en-US" sz="3400" dirty="0"/>
          </a:p>
        </p:txBody>
      </p:sp>
      <p:sp>
        <p:nvSpPr>
          <p:cNvPr id="5" name="Shape 3"/>
          <p:cNvSpPr/>
          <p:nvPr/>
        </p:nvSpPr>
        <p:spPr>
          <a:xfrm>
            <a:off x="822960" y="1783080"/>
            <a:ext cx="3520440" cy="3840480"/>
          </a:xfrm>
          <a:prstGeom prst="rect">
            <a:avLst/>
          </a:prstGeom>
          <a:solidFill>
            <a:srgbClr val="332A22"/>
          </a:solidFill>
          <a:ln w="12700">
            <a:solidFill>
              <a:srgbClr val="2A221B"/>
            </a:solidFill>
            <a:prstDash val="solid"/>
          </a:ln>
        </p:spPr>
      </p:sp>
      <p:sp>
        <p:nvSpPr>
          <p:cNvPr id="6" name="Shape 4"/>
          <p:cNvSpPr/>
          <p:nvPr/>
        </p:nvSpPr>
        <p:spPr>
          <a:xfrm>
            <a:off x="822960" y="1783080"/>
            <a:ext cx="3520440" cy="109728"/>
          </a:xfrm>
          <a:prstGeom prst="rect">
            <a:avLst/>
          </a:prstGeom>
          <a:solidFill>
            <a:srgbClr val="5C5043"/>
          </a:solidFill>
          <a:ln w="12700">
            <a:solidFill>
              <a:srgbClr val="5C5043"/>
            </a:solidFill>
            <a:prstDash val="solid"/>
          </a:ln>
        </p:spPr>
      </p:sp>
      <p:sp>
        <p:nvSpPr>
          <p:cNvPr id="7" name="Text 5"/>
          <p:cNvSpPr/>
          <p:nvPr/>
        </p:nvSpPr>
        <p:spPr>
          <a:xfrm>
            <a:off x="1005840" y="1965960"/>
            <a:ext cx="3154680" cy="228600"/>
          </a:xfrm>
          <a:prstGeom prst="rect">
            <a:avLst/>
          </a:prstGeom>
          <a:noFill/>
          <a:ln/>
        </p:spPr>
        <p:txBody>
          <a:bodyPr wrap="square" lIns="0" tIns="0" rIns="0" bIns="0" rtlCol="0" anchor="ctr"/>
          <a:lstStyle/>
          <a:p>
            <a:pPr indent="0" marL="0">
              <a:buNone/>
            </a:pPr>
            <a:r>
              <a:rPr lang="en-US" sz="900" b="1" spc="500" kern="0" dirty="0">
                <a:solidFill>
                  <a:srgbClr val="B22222"/>
                </a:solidFill>
                <a:latin typeface="Calibri" pitchFamily="34" charset="0"/>
                <a:ea typeface="Calibri" pitchFamily="34" charset="-122"/>
                <a:cs typeface="Calibri" pitchFamily="34" charset="-120"/>
              </a:rPr>
              <a:t>CORRIDA 1</a:t>
            </a:r>
            <a:endParaRPr lang="en-US" sz="900" dirty="0"/>
          </a:p>
        </p:txBody>
      </p:sp>
      <p:sp>
        <p:nvSpPr>
          <p:cNvPr id="8" name="Text 6"/>
          <p:cNvSpPr/>
          <p:nvPr/>
        </p:nvSpPr>
        <p:spPr>
          <a:xfrm>
            <a:off x="1005840" y="2240280"/>
            <a:ext cx="3154680" cy="502920"/>
          </a:xfrm>
          <a:prstGeom prst="rect">
            <a:avLst/>
          </a:prstGeom>
          <a:noFill/>
          <a:ln/>
        </p:spPr>
        <p:txBody>
          <a:bodyPr wrap="square" lIns="0" tIns="0" rIns="0" bIns="0" rtlCol="0" anchor="ctr"/>
          <a:lstStyle/>
          <a:p>
            <a:pPr indent="0" marL="0">
              <a:buNone/>
            </a:pPr>
            <a:r>
              <a:rPr lang="en-US" sz="2600" b="1" dirty="0">
                <a:solidFill>
                  <a:srgbClr val="F0E2C1"/>
                </a:solidFill>
                <a:latin typeface="Georgia" pitchFamily="34" charset="0"/>
                <a:ea typeface="Georgia" pitchFamily="34" charset="-122"/>
                <a:cs typeface="Georgia" pitchFamily="34" charset="-120"/>
              </a:rPr>
              <a:t>A Lenda</a:t>
            </a:r>
            <a:endParaRPr lang="en-US" sz="2600" dirty="0"/>
          </a:p>
        </p:txBody>
      </p:sp>
      <p:sp>
        <p:nvSpPr>
          <p:cNvPr id="9" name="Text 7"/>
          <p:cNvSpPr/>
          <p:nvPr/>
        </p:nvSpPr>
        <p:spPr>
          <a:xfrm>
            <a:off x="1005840" y="2743200"/>
            <a:ext cx="3154680" cy="274320"/>
          </a:xfrm>
          <a:prstGeom prst="rect">
            <a:avLst/>
          </a:prstGeom>
          <a:noFill/>
          <a:ln/>
        </p:spPr>
        <p:txBody>
          <a:bodyPr wrap="square" lIns="0" tIns="0" rIns="0" bIns="0" rtlCol="0" anchor="ctr"/>
          <a:lstStyle/>
          <a:p>
            <a:pPr indent="0" marL="0">
              <a:buNone/>
            </a:pPr>
            <a:r>
              <a:rPr lang="en-US" sz="1300" i="1" dirty="0">
                <a:solidFill>
                  <a:srgbClr val="B22222"/>
                </a:solidFill>
                <a:latin typeface="Georgia" pitchFamily="34" charset="0"/>
                <a:ea typeface="Georgia" pitchFamily="34" charset="-122"/>
                <a:cs typeface="Georgia" pitchFamily="34" charset="-120"/>
              </a:rPr>
              <a:t>Exuberância performativa</a:t>
            </a:r>
            <a:endParaRPr lang="en-US" sz="1300" dirty="0"/>
          </a:p>
        </p:txBody>
      </p:sp>
      <p:sp>
        <p:nvSpPr>
          <p:cNvPr id="10" name="Shape 8"/>
          <p:cNvSpPr/>
          <p:nvPr/>
        </p:nvSpPr>
        <p:spPr>
          <a:xfrm>
            <a:off x="1005840" y="3108960"/>
            <a:ext cx="3154680" cy="0"/>
          </a:xfrm>
          <a:prstGeom prst="line">
            <a:avLst/>
          </a:prstGeom>
          <a:noFill/>
          <a:ln w="12700">
            <a:solidFill>
              <a:srgbClr val="3F342B"/>
            </a:solidFill>
            <a:prstDash val="solid"/>
          </a:ln>
        </p:spPr>
      </p:sp>
      <p:sp>
        <p:nvSpPr>
          <p:cNvPr id="11" name="Text 9"/>
          <p:cNvSpPr/>
          <p:nvPr/>
        </p:nvSpPr>
        <p:spPr>
          <a:xfrm>
            <a:off x="1005840" y="3200400"/>
            <a:ext cx="3154680" cy="228600"/>
          </a:xfrm>
          <a:prstGeom prst="rect">
            <a:avLst/>
          </a:prstGeom>
          <a:noFill/>
          <a:ln/>
        </p:spPr>
        <p:txBody>
          <a:bodyPr wrap="square" lIns="0" tIns="0" rIns="0" bIns="0" rtlCol="0" anchor="ctr"/>
          <a:lstStyle/>
          <a:p>
            <a:pPr indent="0" marL="0">
              <a:buNone/>
            </a:pPr>
            <a:r>
              <a:rPr lang="en-US" sz="800" b="1" spc="300" kern="0" dirty="0">
                <a:solidFill>
                  <a:srgbClr val="C9B68A"/>
                </a:solidFill>
                <a:latin typeface="Calibri" pitchFamily="34" charset="0"/>
                <a:ea typeface="Calibri" pitchFamily="34" charset="-122"/>
                <a:cs typeface="Calibri" pitchFamily="34" charset="-120"/>
              </a:rPr>
              <a:t>FUNÇÃO DRAMÁTICA</a:t>
            </a:r>
            <a:endParaRPr lang="en-US" sz="800" dirty="0"/>
          </a:p>
        </p:txBody>
      </p:sp>
      <p:sp>
        <p:nvSpPr>
          <p:cNvPr id="12" name="Text 10"/>
          <p:cNvSpPr/>
          <p:nvPr/>
        </p:nvSpPr>
        <p:spPr>
          <a:xfrm>
            <a:off x="1005840" y="3429000"/>
            <a:ext cx="3154680" cy="91440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Vender a lenda do João e a amizade. Fazer o jogador gostar dele antes de suspeitar.</a:t>
            </a:r>
            <a:endParaRPr lang="en-US" sz="1100" dirty="0"/>
          </a:p>
        </p:txBody>
      </p:sp>
      <p:sp>
        <p:nvSpPr>
          <p:cNvPr id="13" name="Text 11"/>
          <p:cNvSpPr/>
          <p:nvPr/>
        </p:nvSpPr>
        <p:spPr>
          <a:xfrm>
            <a:off x="1005840" y="4434840"/>
            <a:ext cx="3154680" cy="1097280"/>
          </a:xfrm>
          <a:prstGeom prst="rect">
            <a:avLst/>
          </a:prstGeom>
          <a:noFill/>
          <a:ln/>
        </p:spPr>
        <p:txBody>
          <a:bodyPr wrap="square" lIns="0" tIns="0" rIns="0" bIns="0" rtlCol="0" anchor="t"/>
          <a:lstStyle/>
          <a:p>
            <a:pPr indent="0" marL="0">
              <a:buNone/>
            </a:pPr>
            <a:r>
              <a:rPr lang="en-US" sz="1000" b="1" dirty="0">
                <a:solidFill>
                  <a:srgbClr val="C9B68A"/>
                </a:solidFill>
                <a:latin typeface="Calibri" pitchFamily="34" charset="0"/>
                <a:ea typeface="Calibri" pitchFamily="34" charset="-122"/>
                <a:cs typeface="Calibri" pitchFamily="34" charset="-120"/>
              </a:rPr>
              <a:t xml:space="preserve">Trilha: </a:t>
            </a:r>
            <a:pPr indent="0" marL="0">
              <a:buNone/>
            </a:pPr>
            <a:r>
              <a:rPr lang="en-US" sz="1000" dirty="0">
                <a:solidFill>
                  <a:srgbClr val="F0E2C1"/>
                </a:solidFill>
                <a:latin typeface="Calibri" pitchFamily="34" charset="0"/>
                <a:ea typeface="Calibri" pitchFamily="34" charset="-122"/>
                <a:cs typeface="Calibri" pitchFamily="34" charset="-120"/>
              </a:rPr>
              <a:t>Plebe Rude / Capital Inicial</a:t>
            </a:r>
            <a:endParaRPr lang="en-US" sz="1000" dirty="0"/>
          </a:p>
          <a:p>
            <a:pPr indent="0" marL="0">
              <a:buNone/>
            </a:pPr>
            <a:r>
              <a:rPr lang="en-US" sz="1000" b="1" dirty="0">
                <a:solidFill>
                  <a:srgbClr val="C9B68A"/>
                </a:solidFill>
                <a:latin typeface="Calibri" pitchFamily="34" charset="0"/>
                <a:ea typeface="Calibri" pitchFamily="34" charset="-122"/>
                <a:cs typeface="Calibri" pitchFamily="34" charset="-120"/>
              </a:rPr>
              <a:t xml:space="preserve">Cena VN prévia: </a:t>
            </a:r>
            <a:pPr indent="0" marL="0">
              <a:buNone/>
            </a:pPr>
            <a:r>
              <a:rPr lang="en-US" sz="1000" dirty="0">
                <a:solidFill>
                  <a:srgbClr val="F0E2C1"/>
                </a:solidFill>
                <a:latin typeface="Calibri" pitchFamily="34" charset="0"/>
                <a:ea typeface="Calibri" pitchFamily="34" charset="-122"/>
                <a:cs typeface="Calibri" pitchFamily="34" charset="-120"/>
              </a:rPr>
              <a:t>Posto (João MASCARADO)</a:t>
            </a:r>
            <a:endParaRPr lang="en-US" sz="1000" dirty="0"/>
          </a:p>
        </p:txBody>
      </p:sp>
      <p:sp>
        <p:nvSpPr>
          <p:cNvPr id="14" name="Shape 12"/>
          <p:cNvSpPr/>
          <p:nvPr/>
        </p:nvSpPr>
        <p:spPr>
          <a:xfrm>
            <a:off x="4526280" y="1783080"/>
            <a:ext cx="3520440" cy="3840480"/>
          </a:xfrm>
          <a:prstGeom prst="rect">
            <a:avLst/>
          </a:prstGeom>
          <a:solidFill>
            <a:srgbClr val="332A22"/>
          </a:solidFill>
          <a:ln w="12700">
            <a:solidFill>
              <a:srgbClr val="2A221B"/>
            </a:solidFill>
            <a:prstDash val="solid"/>
          </a:ln>
        </p:spPr>
      </p:sp>
      <p:sp>
        <p:nvSpPr>
          <p:cNvPr id="15" name="Shape 13"/>
          <p:cNvSpPr/>
          <p:nvPr/>
        </p:nvSpPr>
        <p:spPr>
          <a:xfrm>
            <a:off x="4526280" y="1783080"/>
            <a:ext cx="3520440" cy="109728"/>
          </a:xfrm>
          <a:prstGeom prst="rect">
            <a:avLst/>
          </a:prstGeom>
          <a:solidFill>
            <a:srgbClr val="C9B68A"/>
          </a:solidFill>
          <a:ln w="12700">
            <a:solidFill>
              <a:srgbClr val="C9B68A"/>
            </a:solidFill>
            <a:prstDash val="solid"/>
          </a:ln>
        </p:spPr>
      </p:sp>
      <p:sp>
        <p:nvSpPr>
          <p:cNvPr id="16" name="Text 14"/>
          <p:cNvSpPr/>
          <p:nvPr/>
        </p:nvSpPr>
        <p:spPr>
          <a:xfrm>
            <a:off x="4709160" y="1965960"/>
            <a:ext cx="3154680" cy="228600"/>
          </a:xfrm>
          <a:prstGeom prst="rect">
            <a:avLst/>
          </a:prstGeom>
          <a:noFill/>
          <a:ln/>
        </p:spPr>
        <p:txBody>
          <a:bodyPr wrap="square" lIns="0" tIns="0" rIns="0" bIns="0" rtlCol="0" anchor="ctr"/>
          <a:lstStyle/>
          <a:p>
            <a:pPr indent="0" marL="0">
              <a:buNone/>
            </a:pPr>
            <a:r>
              <a:rPr lang="en-US" sz="900" b="1" spc="500" kern="0" dirty="0">
                <a:solidFill>
                  <a:srgbClr val="B22222"/>
                </a:solidFill>
                <a:latin typeface="Calibri" pitchFamily="34" charset="0"/>
                <a:ea typeface="Calibri" pitchFamily="34" charset="-122"/>
                <a:cs typeface="Calibri" pitchFamily="34" charset="-120"/>
              </a:rPr>
              <a:t>CORRIDA 2</a:t>
            </a:r>
            <a:endParaRPr lang="en-US" sz="900" dirty="0"/>
          </a:p>
        </p:txBody>
      </p:sp>
      <p:sp>
        <p:nvSpPr>
          <p:cNvPr id="17" name="Text 15"/>
          <p:cNvSpPr/>
          <p:nvPr/>
        </p:nvSpPr>
        <p:spPr>
          <a:xfrm>
            <a:off x="4709160" y="2240280"/>
            <a:ext cx="3154680" cy="502920"/>
          </a:xfrm>
          <a:prstGeom prst="rect">
            <a:avLst/>
          </a:prstGeom>
          <a:noFill/>
          <a:ln/>
        </p:spPr>
        <p:txBody>
          <a:bodyPr wrap="square" lIns="0" tIns="0" rIns="0" bIns="0" rtlCol="0" anchor="ctr"/>
          <a:lstStyle/>
          <a:p>
            <a:pPr indent="0" marL="0">
              <a:buNone/>
            </a:pPr>
            <a:r>
              <a:rPr lang="en-US" sz="2600" b="1" dirty="0">
                <a:solidFill>
                  <a:srgbClr val="F0E2C1"/>
                </a:solidFill>
                <a:latin typeface="Georgia" pitchFamily="34" charset="0"/>
                <a:ea typeface="Georgia" pitchFamily="34" charset="-122"/>
                <a:cs typeface="Georgia" pitchFamily="34" charset="-120"/>
              </a:rPr>
              <a:t>A Rachadura</a:t>
            </a:r>
            <a:endParaRPr lang="en-US" sz="2600" dirty="0"/>
          </a:p>
        </p:txBody>
      </p:sp>
      <p:sp>
        <p:nvSpPr>
          <p:cNvPr id="18" name="Text 16"/>
          <p:cNvSpPr/>
          <p:nvPr/>
        </p:nvSpPr>
        <p:spPr>
          <a:xfrm>
            <a:off x="4709160" y="2743200"/>
            <a:ext cx="3154680" cy="274320"/>
          </a:xfrm>
          <a:prstGeom prst="rect">
            <a:avLst/>
          </a:prstGeom>
          <a:noFill/>
          <a:ln/>
        </p:spPr>
        <p:txBody>
          <a:bodyPr wrap="square" lIns="0" tIns="0" rIns="0" bIns="0" rtlCol="0" anchor="ctr"/>
          <a:lstStyle/>
          <a:p>
            <a:pPr indent="0" marL="0">
              <a:buNone/>
            </a:pPr>
            <a:r>
              <a:rPr lang="en-US" sz="1300" i="1" dirty="0">
                <a:solidFill>
                  <a:srgbClr val="B22222"/>
                </a:solidFill>
                <a:latin typeface="Georgia" pitchFamily="34" charset="0"/>
                <a:ea typeface="Georgia" pitchFamily="34" charset="-122"/>
                <a:cs typeface="Georgia" pitchFamily="34" charset="-120"/>
              </a:rPr>
              <a:t>Negação agressiva</a:t>
            </a:r>
            <a:endParaRPr lang="en-US" sz="1300" dirty="0"/>
          </a:p>
        </p:txBody>
      </p:sp>
      <p:sp>
        <p:nvSpPr>
          <p:cNvPr id="19" name="Shape 17"/>
          <p:cNvSpPr/>
          <p:nvPr/>
        </p:nvSpPr>
        <p:spPr>
          <a:xfrm>
            <a:off x="4709160" y="3108960"/>
            <a:ext cx="3154680" cy="0"/>
          </a:xfrm>
          <a:prstGeom prst="line">
            <a:avLst/>
          </a:prstGeom>
          <a:noFill/>
          <a:ln w="12700">
            <a:solidFill>
              <a:srgbClr val="3F342B"/>
            </a:solidFill>
            <a:prstDash val="solid"/>
          </a:ln>
        </p:spPr>
      </p:sp>
      <p:sp>
        <p:nvSpPr>
          <p:cNvPr id="20" name="Text 18"/>
          <p:cNvSpPr/>
          <p:nvPr/>
        </p:nvSpPr>
        <p:spPr>
          <a:xfrm>
            <a:off x="4709160" y="3200400"/>
            <a:ext cx="3154680" cy="228600"/>
          </a:xfrm>
          <a:prstGeom prst="rect">
            <a:avLst/>
          </a:prstGeom>
          <a:noFill/>
          <a:ln/>
        </p:spPr>
        <p:txBody>
          <a:bodyPr wrap="square" lIns="0" tIns="0" rIns="0" bIns="0" rtlCol="0" anchor="ctr"/>
          <a:lstStyle/>
          <a:p>
            <a:pPr indent="0" marL="0">
              <a:buNone/>
            </a:pPr>
            <a:r>
              <a:rPr lang="en-US" sz="800" b="1" spc="300" kern="0" dirty="0">
                <a:solidFill>
                  <a:srgbClr val="C9B68A"/>
                </a:solidFill>
                <a:latin typeface="Calibri" pitchFamily="34" charset="0"/>
                <a:ea typeface="Calibri" pitchFamily="34" charset="-122"/>
                <a:cs typeface="Calibri" pitchFamily="34" charset="-120"/>
              </a:rPr>
              <a:t>FUNÇÃO DRAMÁTICA</a:t>
            </a:r>
            <a:endParaRPr lang="en-US" sz="800" dirty="0"/>
          </a:p>
        </p:txBody>
      </p:sp>
      <p:sp>
        <p:nvSpPr>
          <p:cNvPr id="21" name="Text 19"/>
          <p:cNvSpPr/>
          <p:nvPr/>
        </p:nvSpPr>
        <p:spPr>
          <a:xfrm>
            <a:off x="4709160" y="3429000"/>
            <a:ext cx="3154680" cy="91440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Quebrar o status quo. Performance falha, mais raiva que técnica. João vence por um triz.</a:t>
            </a:r>
            <a:endParaRPr lang="en-US" sz="1100" dirty="0"/>
          </a:p>
        </p:txBody>
      </p:sp>
      <p:sp>
        <p:nvSpPr>
          <p:cNvPr id="22" name="Text 20"/>
          <p:cNvSpPr/>
          <p:nvPr/>
        </p:nvSpPr>
        <p:spPr>
          <a:xfrm>
            <a:off x="4709160" y="4434840"/>
            <a:ext cx="3154680" cy="1097280"/>
          </a:xfrm>
          <a:prstGeom prst="rect">
            <a:avLst/>
          </a:prstGeom>
          <a:noFill/>
          <a:ln/>
        </p:spPr>
        <p:txBody>
          <a:bodyPr wrap="square" lIns="0" tIns="0" rIns="0" bIns="0" rtlCol="0" anchor="t"/>
          <a:lstStyle/>
          <a:p>
            <a:pPr indent="0" marL="0">
              <a:buNone/>
            </a:pPr>
            <a:r>
              <a:rPr lang="en-US" sz="1000" b="1" dirty="0">
                <a:solidFill>
                  <a:srgbClr val="C9B68A"/>
                </a:solidFill>
                <a:latin typeface="Calibri" pitchFamily="34" charset="0"/>
                <a:ea typeface="Calibri" pitchFamily="34" charset="-122"/>
                <a:cs typeface="Calibri" pitchFamily="34" charset="-120"/>
              </a:rPr>
              <a:t xml:space="preserve">Trilha: </a:t>
            </a:r>
            <a:pPr indent="0" marL="0">
              <a:buNone/>
            </a:pPr>
            <a:r>
              <a:rPr lang="en-US" sz="1000" dirty="0">
                <a:solidFill>
                  <a:srgbClr val="F0E2C1"/>
                </a:solidFill>
                <a:latin typeface="Calibri" pitchFamily="34" charset="0"/>
                <a:ea typeface="Calibri" pitchFamily="34" charset="-122"/>
                <a:cs typeface="Calibri" pitchFamily="34" charset="-120"/>
              </a:rPr>
              <a:t>The Clash / Sex Pistols</a:t>
            </a:r>
            <a:endParaRPr lang="en-US" sz="1000" dirty="0"/>
          </a:p>
          <a:p>
            <a:pPr indent="0" marL="0">
              <a:buNone/>
            </a:pPr>
            <a:r>
              <a:rPr lang="en-US" sz="1000" b="1" dirty="0">
                <a:solidFill>
                  <a:srgbClr val="C9B68A"/>
                </a:solidFill>
                <a:latin typeface="Calibri" pitchFamily="34" charset="0"/>
                <a:ea typeface="Calibri" pitchFamily="34" charset="-122"/>
                <a:cs typeface="Calibri" pitchFamily="34" charset="-120"/>
              </a:rPr>
              <a:t xml:space="preserve">Cena VN prévia: </a:t>
            </a:r>
            <a:pPr indent="0" marL="0">
              <a:buNone/>
            </a:pPr>
            <a:r>
              <a:rPr lang="en-US" sz="1000" dirty="0">
                <a:solidFill>
                  <a:srgbClr val="F0E2C1"/>
                </a:solidFill>
                <a:latin typeface="Calibri" pitchFamily="34" charset="0"/>
                <a:ea typeface="Calibri" pitchFamily="34" charset="-122"/>
                <a:cs typeface="Calibri" pitchFamily="34" charset="-120"/>
              </a:rPr>
              <a:t>Quarto (entrega fita K7)</a:t>
            </a:r>
            <a:endParaRPr lang="en-US" sz="1000" dirty="0"/>
          </a:p>
        </p:txBody>
      </p:sp>
      <p:sp>
        <p:nvSpPr>
          <p:cNvPr id="23" name="Shape 21"/>
          <p:cNvSpPr/>
          <p:nvPr/>
        </p:nvSpPr>
        <p:spPr>
          <a:xfrm>
            <a:off x="8229600" y="1783080"/>
            <a:ext cx="3520440" cy="3840480"/>
          </a:xfrm>
          <a:prstGeom prst="rect">
            <a:avLst/>
          </a:prstGeom>
          <a:solidFill>
            <a:srgbClr val="332A22"/>
          </a:solidFill>
          <a:ln w="12700">
            <a:solidFill>
              <a:srgbClr val="2A221B"/>
            </a:solidFill>
            <a:prstDash val="solid"/>
          </a:ln>
        </p:spPr>
      </p:sp>
      <p:sp>
        <p:nvSpPr>
          <p:cNvPr id="24" name="Shape 22"/>
          <p:cNvSpPr/>
          <p:nvPr/>
        </p:nvSpPr>
        <p:spPr>
          <a:xfrm>
            <a:off x="8229600" y="1783080"/>
            <a:ext cx="3520440" cy="109728"/>
          </a:xfrm>
          <a:prstGeom prst="rect">
            <a:avLst/>
          </a:prstGeom>
          <a:solidFill>
            <a:srgbClr val="8B0000"/>
          </a:solidFill>
          <a:ln w="12700">
            <a:solidFill>
              <a:srgbClr val="8B0000"/>
            </a:solidFill>
            <a:prstDash val="solid"/>
          </a:ln>
        </p:spPr>
      </p:sp>
      <p:sp>
        <p:nvSpPr>
          <p:cNvPr id="25" name="Text 23"/>
          <p:cNvSpPr/>
          <p:nvPr/>
        </p:nvSpPr>
        <p:spPr>
          <a:xfrm>
            <a:off x="8412480" y="1965960"/>
            <a:ext cx="3154680" cy="228600"/>
          </a:xfrm>
          <a:prstGeom prst="rect">
            <a:avLst/>
          </a:prstGeom>
          <a:noFill/>
          <a:ln/>
        </p:spPr>
        <p:txBody>
          <a:bodyPr wrap="square" lIns="0" tIns="0" rIns="0" bIns="0" rtlCol="0" anchor="ctr"/>
          <a:lstStyle/>
          <a:p>
            <a:pPr indent="0" marL="0">
              <a:buNone/>
            </a:pPr>
            <a:r>
              <a:rPr lang="en-US" sz="900" b="1" spc="500" kern="0" dirty="0">
                <a:solidFill>
                  <a:srgbClr val="B22222"/>
                </a:solidFill>
                <a:latin typeface="Calibri" pitchFamily="34" charset="0"/>
                <a:ea typeface="Calibri" pitchFamily="34" charset="-122"/>
                <a:cs typeface="Calibri" pitchFamily="34" charset="-120"/>
              </a:rPr>
              <a:t>CORRIDA 3</a:t>
            </a:r>
            <a:endParaRPr lang="en-US" sz="900" dirty="0"/>
          </a:p>
        </p:txBody>
      </p:sp>
      <p:sp>
        <p:nvSpPr>
          <p:cNvPr id="26" name="Text 24"/>
          <p:cNvSpPr/>
          <p:nvPr/>
        </p:nvSpPr>
        <p:spPr>
          <a:xfrm>
            <a:off x="8412480" y="2240280"/>
            <a:ext cx="3154680" cy="502920"/>
          </a:xfrm>
          <a:prstGeom prst="rect">
            <a:avLst/>
          </a:prstGeom>
          <a:noFill/>
          <a:ln/>
        </p:spPr>
        <p:txBody>
          <a:bodyPr wrap="square" lIns="0" tIns="0" rIns="0" bIns="0" rtlCol="0" anchor="ctr"/>
          <a:lstStyle/>
          <a:p>
            <a:pPr indent="0" marL="0">
              <a:buNone/>
            </a:pPr>
            <a:r>
              <a:rPr lang="en-US" sz="2600" b="1" dirty="0">
                <a:solidFill>
                  <a:srgbClr val="F0E2C1"/>
                </a:solidFill>
                <a:latin typeface="Georgia" pitchFamily="34" charset="0"/>
                <a:ea typeface="Georgia" pitchFamily="34" charset="-122"/>
                <a:cs typeface="Georgia" pitchFamily="34" charset="-120"/>
              </a:rPr>
              <a:t>O Abismo</a:t>
            </a:r>
            <a:endParaRPr lang="en-US" sz="2600" dirty="0"/>
          </a:p>
        </p:txBody>
      </p:sp>
      <p:sp>
        <p:nvSpPr>
          <p:cNvPr id="27" name="Text 25"/>
          <p:cNvSpPr/>
          <p:nvPr/>
        </p:nvSpPr>
        <p:spPr>
          <a:xfrm>
            <a:off x="8412480" y="2743200"/>
            <a:ext cx="3154680" cy="274320"/>
          </a:xfrm>
          <a:prstGeom prst="rect">
            <a:avLst/>
          </a:prstGeom>
          <a:noFill/>
          <a:ln/>
        </p:spPr>
        <p:txBody>
          <a:bodyPr wrap="square" lIns="0" tIns="0" rIns="0" bIns="0" rtlCol="0" anchor="ctr"/>
          <a:lstStyle/>
          <a:p>
            <a:pPr indent="0" marL="0">
              <a:buNone/>
            </a:pPr>
            <a:r>
              <a:rPr lang="en-US" sz="1300" i="1" dirty="0">
                <a:solidFill>
                  <a:srgbClr val="B22222"/>
                </a:solidFill>
                <a:latin typeface="Georgia" pitchFamily="34" charset="0"/>
                <a:ea typeface="Georgia" pitchFamily="34" charset="-122"/>
                <a:cs typeface="Georgia" pitchFamily="34" charset="-120"/>
              </a:rPr>
              <a:t>Desapego fatalista</a:t>
            </a:r>
            <a:endParaRPr lang="en-US" sz="1300" dirty="0"/>
          </a:p>
        </p:txBody>
      </p:sp>
      <p:sp>
        <p:nvSpPr>
          <p:cNvPr id="28" name="Shape 26"/>
          <p:cNvSpPr/>
          <p:nvPr/>
        </p:nvSpPr>
        <p:spPr>
          <a:xfrm>
            <a:off x="8412480" y="3108960"/>
            <a:ext cx="3154680" cy="0"/>
          </a:xfrm>
          <a:prstGeom prst="line">
            <a:avLst/>
          </a:prstGeom>
          <a:noFill/>
          <a:ln w="12700">
            <a:solidFill>
              <a:srgbClr val="3F342B"/>
            </a:solidFill>
            <a:prstDash val="solid"/>
          </a:ln>
        </p:spPr>
      </p:sp>
      <p:sp>
        <p:nvSpPr>
          <p:cNvPr id="29" name="Text 27"/>
          <p:cNvSpPr/>
          <p:nvPr/>
        </p:nvSpPr>
        <p:spPr>
          <a:xfrm>
            <a:off x="8412480" y="3200400"/>
            <a:ext cx="3154680" cy="228600"/>
          </a:xfrm>
          <a:prstGeom prst="rect">
            <a:avLst/>
          </a:prstGeom>
          <a:noFill/>
          <a:ln/>
        </p:spPr>
        <p:txBody>
          <a:bodyPr wrap="square" lIns="0" tIns="0" rIns="0" bIns="0" rtlCol="0" anchor="ctr"/>
          <a:lstStyle/>
          <a:p>
            <a:pPr indent="0" marL="0">
              <a:buNone/>
            </a:pPr>
            <a:r>
              <a:rPr lang="en-US" sz="800" b="1" spc="300" kern="0" dirty="0">
                <a:solidFill>
                  <a:srgbClr val="C9B68A"/>
                </a:solidFill>
                <a:latin typeface="Calibri" pitchFamily="34" charset="0"/>
                <a:ea typeface="Calibri" pitchFamily="34" charset="-122"/>
                <a:cs typeface="Calibri" pitchFamily="34" charset="-120"/>
              </a:rPr>
              <a:t>FUNÇÃO DRAMÁTICA</a:t>
            </a:r>
            <a:endParaRPr lang="en-US" sz="800" dirty="0"/>
          </a:p>
        </p:txBody>
      </p:sp>
      <p:sp>
        <p:nvSpPr>
          <p:cNvPr id="30" name="Text 28"/>
          <p:cNvSpPr/>
          <p:nvPr/>
        </p:nvSpPr>
        <p:spPr>
          <a:xfrm>
            <a:off x="8412480" y="3429000"/>
            <a:ext cx="3154680" cy="91440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Calma aterrorizante. Direção perfeita mas sem alma. RNG máximo. Curva do Diabo.</a:t>
            </a:r>
            <a:endParaRPr lang="en-US" sz="1100" dirty="0"/>
          </a:p>
        </p:txBody>
      </p:sp>
      <p:sp>
        <p:nvSpPr>
          <p:cNvPr id="31" name="Text 29"/>
          <p:cNvSpPr/>
          <p:nvPr/>
        </p:nvSpPr>
        <p:spPr>
          <a:xfrm>
            <a:off x="8412480" y="4434840"/>
            <a:ext cx="3154680" cy="1097280"/>
          </a:xfrm>
          <a:prstGeom prst="rect">
            <a:avLst/>
          </a:prstGeom>
          <a:noFill/>
          <a:ln/>
        </p:spPr>
        <p:txBody>
          <a:bodyPr wrap="square" lIns="0" tIns="0" rIns="0" bIns="0" rtlCol="0" anchor="t"/>
          <a:lstStyle/>
          <a:p>
            <a:pPr indent="0" marL="0">
              <a:buNone/>
            </a:pPr>
            <a:r>
              <a:rPr lang="en-US" sz="1000" b="1" dirty="0">
                <a:solidFill>
                  <a:srgbClr val="C9B68A"/>
                </a:solidFill>
                <a:latin typeface="Calibri" pitchFamily="34" charset="0"/>
                <a:ea typeface="Calibri" pitchFamily="34" charset="-122"/>
                <a:cs typeface="Calibri" pitchFamily="34" charset="-120"/>
              </a:rPr>
              <a:t xml:space="preserve">Trilha: </a:t>
            </a:r>
            <a:pPr indent="0" marL="0">
              <a:buNone/>
            </a:pPr>
            <a:r>
              <a:rPr lang="en-US" sz="1000" dirty="0">
                <a:solidFill>
                  <a:srgbClr val="F0E2C1"/>
                </a:solidFill>
                <a:latin typeface="Calibri" pitchFamily="34" charset="0"/>
                <a:ea typeface="Calibri" pitchFamily="34" charset="-122"/>
                <a:cs typeface="Calibri" pitchFamily="34" charset="-120"/>
              </a:rPr>
              <a:t>Joy Division / The Smiths</a:t>
            </a:r>
            <a:endParaRPr lang="en-US" sz="1000" dirty="0"/>
          </a:p>
          <a:p>
            <a:pPr indent="0" marL="0">
              <a:buNone/>
            </a:pPr>
            <a:r>
              <a:rPr lang="en-US" sz="1000" b="1" dirty="0">
                <a:solidFill>
                  <a:srgbClr val="C9B68A"/>
                </a:solidFill>
                <a:latin typeface="Calibri" pitchFamily="34" charset="0"/>
                <a:ea typeface="Calibri" pitchFamily="34" charset="-122"/>
                <a:cs typeface="Calibri" pitchFamily="34" charset="-120"/>
              </a:rPr>
              <a:t xml:space="preserve">Cena VN prévia: </a:t>
            </a:r>
            <a:pPr indent="0" marL="0">
              <a:buNone/>
            </a:pPr>
            <a:r>
              <a:rPr lang="en-US" sz="1000" dirty="0">
                <a:solidFill>
                  <a:srgbClr val="F0E2C1"/>
                </a:solidFill>
                <a:latin typeface="Calibri" pitchFamily="34" charset="0"/>
                <a:ea typeface="Calibri" pitchFamily="34" charset="-122"/>
                <a:cs typeface="Calibri" pitchFamily="34" charset="-120"/>
              </a:rPr>
              <a:t>Beira da estrada (despedida)</a:t>
            </a:r>
            <a:endParaRPr lang="en-US" sz="1000" dirty="0"/>
          </a:p>
        </p:txBody>
      </p:sp>
      <p:sp>
        <p:nvSpPr>
          <p:cNvPr id="32" name="Shape 30"/>
          <p:cNvSpPr/>
          <p:nvPr/>
        </p:nvSpPr>
        <p:spPr>
          <a:xfrm>
            <a:off x="822960" y="5806440"/>
            <a:ext cx="10972800" cy="594360"/>
          </a:xfrm>
          <a:prstGeom prst="rect">
            <a:avLst/>
          </a:prstGeom>
          <a:solidFill>
            <a:srgbClr val="332A22"/>
          </a:solidFill>
          <a:ln w="12700">
            <a:solidFill>
              <a:srgbClr val="8B0000"/>
            </a:solidFill>
            <a:prstDash val="dash"/>
          </a:ln>
        </p:spPr>
      </p:sp>
      <p:sp>
        <p:nvSpPr>
          <p:cNvPr id="33" name="Shape 31"/>
          <p:cNvSpPr/>
          <p:nvPr/>
        </p:nvSpPr>
        <p:spPr>
          <a:xfrm>
            <a:off x="822960" y="5806440"/>
            <a:ext cx="73152" cy="594360"/>
          </a:xfrm>
          <a:prstGeom prst="rect">
            <a:avLst/>
          </a:prstGeom>
          <a:solidFill>
            <a:srgbClr val="8B0000"/>
          </a:solidFill>
          <a:ln w="12700">
            <a:solidFill>
              <a:srgbClr val="8B0000"/>
            </a:solidFill>
            <a:prstDash val="solid"/>
          </a:ln>
        </p:spPr>
      </p:sp>
      <p:sp>
        <p:nvSpPr>
          <p:cNvPr id="34" name="Text 32"/>
          <p:cNvSpPr/>
          <p:nvPr/>
        </p:nvSpPr>
        <p:spPr>
          <a:xfrm>
            <a:off x="1005840" y="5897880"/>
            <a:ext cx="10698480" cy="27432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PROMPT — IMAGEM (nanobanana)</a:t>
            </a:r>
            <a:endParaRPr lang="en-US" sz="900" dirty="0"/>
          </a:p>
        </p:txBody>
      </p:sp>
      <p:sp>
        <p:nvSpPr>
          <p:cNvPr id="35" name="Text 33"/>
          <p:cNvSpPr/>
          <p:nvPr/>
        </p:nvSpPr>
        <p:spPr>
          <a:xfrm>
            <a:off x="1005840" y="6217920"/>
            <a:ext cx="10607040" cy="91440"/>
          </a:xfrm>
          <a:prstGeom prst="rect">
            <a:avLst/>
          </a:prstGeom>
          <a:noFill/>
          <a:ln/>
        </p:spPr>
        <p:txBody>
          <a:bodyPr wrap="square" lIns="0" tIns="0" rIns="0" bIns="0" rtlCol="0" anchor="t"/>
          <a:lstStyle/>
          <a:p>
            <a:pPr indent="0" marL="0">
              <a:buNone/>
            </a:pPr>
            <a:r>
              <a:rPr lang="en-US" sz="1100" i="1" dirty="0">
                <a:solidFill>
                  <a:srgbClr val="C9B68A"/>
                </a:solidFill>
                <a:latin typeface="Calibri" pitchFamily="34" charset="0"/>
                <a:ea typeface="Calibri" pitchFamily="34" charset="-122"/>
                <a:cs typeface="Calibri" pitchFamily="34" charset="-120"/>
              </a:rPr>
              <a:t>Tríptico em estilo iluminura sepia bestiário medieval mostrando a progressão de um Chevrolet Opala azul: Painel 1 impecável e eufórico; Painel 2 com cinzeiro transbordando e arranhões; Painel 3 deteriorado, retrovisor trincado, calma aterrorizante. Linhas pretas, hachuras, sépia crescendo, vermelho sangue progressivo.</a:t>
            </a:r>
            <a:endParaRPr lang="en-US" sz="1100" dirty="0"/>
          </a:p>
        </p:txBody>
      </p:sp>
      <p:sp>
        <p:nvSpPr>
          <p:cNvPr id="36" name="Text 34"/>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37" name="Text 35"/>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10  •  RAMIFICAÇÕES</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Os três finais</a:t>
            </a:r>
            <a:endParaRPr lang="en-US" sz="3400" dirty="0"/>
          </a:p>
        </p:txBody>
      </p:sp>
      <p:sp>
        <p:nvSpPr>
          <p:cNvPr id="5" name="Shape 3"/>
          <p:cNvSpPr/>
          <p:nvPr/>
        </p:nvSpPr>
        <p:spPr>
          <a:xfrm>
            <a:off x="822960" y="1783080"/>
            <a:ext cx="3520440" cy="4023360"/>
          </a:xfrm>
          <a:prstGeom prst="rect">
            <a:avLst/>
          </a:prstGeom>
          <a:solidFill>
            <a:srgbClr val="332A22"/>
          </a:solidFill>
          <a:ln w="12700">
            <a:solidFill>
              <a:srgbClr val="2A221B"/>
            </a:solidFill>
            <a:prstDash val="solid"/>
          </a:ln>
        </p:spPr>
      </p:sp>
      <p:sp>
        <p:nvSpPr>
          <p:cNvPr id="6" name="Shape 4"/>
          <p:cNvSpPr/>
          <p:nvPr/>
        </p:nvSpPr>
        <p:spPr>
          <a:xfrm>
            <a:off x="822960" y="1783080"/>
            <a:ext cx="3520440" cy="109728"/>
          </a:xfrm>
          <a:prstGeom prst="rect">
            <a:avLst/>
          </a:prstGeom>
          <a:solidFill>
            <a:srgbClr val="8B0000"/>
          </a:solidFill>
          <a:ln w="12700">
            <a:solidFill>
              <a:srgbClr val="8B0000"/>
            </a:solidFill>
            <a:prstDash val="solid"/>
          </a:ln>
        </p:spPr>
      </p:sp>
      <p:sp>
        <p:nvSpPr>
          <p:cNvPr id="7" name="Text 5"/>
          <p:cNvSpPr/>
          <p:nvPr/>
        </p:nvSpPr>
        <p:spPr>
          <a:xfrm>
            <a:off x="1005840" y="1965960"/>
            <a:ext cx="315468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FINAL 1  •  DEFAULT</a:t>
            </a:r>
            <a:endParaRPr lang="en-US" sz="900" dirty="0"/>
          </a:p>
        </p:txBody>
      </p:sp>
      <p:sp>
        <p:nvSpPr>
          <p:cNvPr id="8" name="Text 6"/>
          <p:cNvSpPr/>
          <p:nvPr/>
        </p:nvSpPr>
        <p:spPr>
          <a:xfrm>
            <a:off x="1005840" y="2240280"/>
            <a:ext cx="3154680" cy="502920"/>
          </a:xfrm>
          <a:prstGeom prst="rect">
            <a:avLst/>
          </a:prstGeom>
          <a:noFill/>
          <a:ln/>
        </p:spPr>
        <p:txBody>
          <a:bodyPr wrap="square" lIns="0" tIns="0" rIns="0" bIns="0" rtlCol="0" anchor="ctr"/>
          <a:lstStyle/>
          <a:p>
            <a:pPr indent="0" marL="0">
              <a:buNone/>
            </a:pPr>
            <a:r>
              <a:rPr lang="en-US" sz="2200" b="1" dirty="0">
                <a:solidFill>
                  <a:srgbClr val="F0E2C1"/>
                </a:solidFill>
                <a:latin typeface="Georgia" pitchFamily="34" charset="0"/>
                <a:ea typeface="Georgia" pitchFamily="34" charset="-122"/>
                <a:cs typeface="Georgia" pitchFamily="34" charset="-120"/>
              </a:rPr>
              <a:t>A Morte Canônica</a:t>
            </a:r>
            <a:endParaRPr lang="en-US" sz="2200" dirty="0"/>
          </a:p>
        </p:txBody>
      </p:sp>
      <p:sp>
        <p:nvSpPr>
          <p:cNvPr id="9" name="Text 7"/>
          <p:cNvSpPr/>
          <p:nvPr/>
        </p:nvSpPr>
        <p:spPr>
          <a:xfrm>
            <a:off x="1005840" y="2743200"/>
            <a:ext cx="3154680" cy="274320"/>
          </a:xfrm>
          <a:prstGeom prst="rect">
            <a:avLst/>
          </a:prstGeom>
          <a:noFill/>
          <a:ln/>
        </p:spPr>
        <p:txBody>
          <a:bodyPr wrap="square" lIns="0" tIns="0" rIns="0" bIns="0" rtlCol="0" anchor="ctr"/>
          <a:lstStyle/>
          <a:p>
            <a:pPr indent="0" marL="0">
              <a:buNone/>
            </a:pPr>
            <a:r>
              <a:rPr lang="en-US" sz="1100" i="1" dirty="0">
                <a:solidFill>
                  <a:srgbClr val="C9B68A"/>
                </a:solidFill>
                <a:latin typeface="Calibri" pitchFamily="34" charset="0"/>
                <a:ea typeface="Calibri" pitchFamily="34" charset="-122"/>
                <a:cs typeface="Calibri" pitchFamily="34" charset="-120"/>
              </a:rPr>
              <a:t>ConcernScore 0–33</a:t>
            </a:r>
            <a:endParaRPr lang="en-US" sz="1100" dirty="0"/>
          </a:p>
        </p:txBody>
      </p:sp>
      <p:sp>
        <p:nvSpPr>
          <p:cNvPr id="10" name="Shape 8"/>
          <p:cNvSpPr/>
          <p:nvPr/>
        </p:nvSpPr>
        <p:spPr>
          <a:xfrm>
            <a:off x="1005840" y="3108960"/>
            <a:ext cx="3154680" cy="0"/>
          </a:xfrm>
          <a:prstGeom prst="line">
            <a:avLst/>
          </a:prstGeom>
          <a:noFill/>
          <a:ln w="12700">
            <a:solidFill>
              <a:srgbClr val="3F342B"/>
            </a:solidFill>
            <a:prstDash val="solid"/>
          </a:ln>
        </p:spPr>
      </p:sp>
      <p:sp>
        <p:nvSpPr>
          <p:cNvPr id="11" name="Text 9"/>
          <p:cNvSpPr/>
          <p:nvPr/>
        </p:nvSpPr>
        <p:spPr>
          <a:xfrm>
            <a:off x="1005840" y="3200400"/>
            <a:ext cx="3154680" cy="173736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João corre a Curva do Diabo. Esquerda = falha no RNG = explosão. Vinheta em cordel: "E até hoje quem se lembra diz que não foi o caminhão..."</a:t>
            </a:r>
            <a:endParaRPr lang="en-US" sz="1100" dirty="0"/>
          </a:p>
        </p:txBody>
      </p:sp>
      <p:sp>
        <p:nvSpPr>
          <p:cNvPr id="12" name="Shape 10"/>
          <p:cNvSpPr/>
          <p:nvPr/>
        </p:nvSpPr>
        <p:spPr>
          <a:xfrm>
            <a:off x="1005840" y="5029200"/>
            <a:ext cx="3154680" cy="0"/>
          </a:xfrm>
          <a:prstGeom prst="line">
            <a:avLst/>
          </a:prstGeom>
          <a:noFill/>
          <a:ln w="12700">
            <a:solidFill>
              <a:srgbClr val="3F342B"/>
            </a:solidFill>
            <a:prstDash val="solid"/>
          </a:ln>
        </p:spPr>
      </p:sp>
      <p:sp>
        <p:nvSpPr>
          <p:cNvPr id="13" name="Text 11"/>
          <p:cNvSpPr/>
          <p:nvPr/>
        </p:nvSpPr>
        <p:spPr>
          <a:xfrm>
            <a:off x="1005840" y="5120640"/>
            <a:ext cx="3154680" cy="640080"/>
          </a:xfrm>
          <a:prstGeom prst="rect">
            <a:avLst/>
          </a:prstGeom>
          <a:noFill/>
          <a:ln/>
        </p:spPr>
        <p:txBody>
          <a:bodyPr wrap="square" lIns="0" tIns="0" rIns="0" bIns="0" rtlCol="0" anchor="ctr"/>
          <a:lstStyle/>
          <a:p>
            <a:pPr indent="0" marL="0">
              <a:buNone/>
            </a:pPr>
            <a:r>
              <a:rPr lang="en-US" sz="1100" i="1" dirty="0">
                <a:solidFill>
                  <a:srgbClr val="B22222"/>
                </a:solidFill>
                <a:latin typeface="Georgia" pitchFamily="34" charset="0"/>
                <a:ea typeface="Georgia" pitchFamily="34" charset="-122"/>
                <a:cs typeface="Georgia" pitchFamily="34" charset="-120"/>
              </a:rPr>
              <a:t>"Deixamos o acaso decidir. O acaso é um juiz cruel."</a:t>
            </a:r>
            <a:endParaRPr lang="en-US" sz="1100" dirty="0"/>
          </a:p>
        </p:txBody>
      </p:sp>
      <p:sp>
        <p:nvSpPr>
          <p:cNvPr id="14" name="Shape 12"/>
          <p:cNvSpPr/>
          <p:nvPr/>
        </p:nvSpPr>
        <p:spPr>
          <a:xfrm>
            <a:off x="4526280" y="1783080"/>
            <a:ext cx="3520440" cy="4023360"/>
          </a:xfrm>
          <a:prstGeom prst="rect">
            <a:avLst/>
          </a:prstGeom>
          <a:solidFill>
            <a:srgbClr val="332A22"/>
          </a:solidFill>
          <a:ln w="12700">
            <a:solidFill>
              <a:srgbClr val="2A221B"/>
            </a:solidFill>
            <a:prstDash val="solid"/>
          </a:ln>
        </p:spPr>
      </p:sp>
      <p:sp>
        <p:nvSpPr>
          <p:cNvPr id="15" name="Shape 13"/>
          <p:cNvSpPr/>
          <p:nvPr/>
        </p:nvSpPr>
        <p:spPr>
          <a:xfrm>
            <a:off x="4526280" y="1783080"/>
            <a:ext cx="3520440" cy="109728"/>
          </a:xfrm>
          <a:prstGeom prst="rect">
            <a:avLst/>
          </a:prstGeom>
          <a:solidFill>
            <a:srgbClr val="B22222"/>
          </a:solidFill>
          <a:ln w="12700">
            <a:solidFill>
              <a:srgbClr val="B22222"/>
            </a:solidFill>
            <a:prstDash val="solid"/>
          </a:ln>
        </p:spPr>
      </p:sp>
      <p:sp>
        <p:nvSpPr>
          <p:cNvPr id="16" name="Text 14"/>
          <p:cNvSpPr/>
          <p:nvPr/>
        </p:nvSpPr>
        <p:spPr>
          <a:xfrm>
            <a:off x="4709160" y="1965960"/>
            <a:ext cx="315468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FINAL 2  •  ESCONDIDO</a:t>
            </a:r>
            <a:endParaRPr lang="en-US" sz="900" dirty="0"/>
          </a:p>
        </p:txBody>
      </p:sp>
      <p:sp>
        <p:nvSpPr>
          <p:cNvPr id="17" name="Text 15"/>
          <p:cNvSpPr/>
          <p:nvPr/>
        </p:nvSpPr>
        <p:spPr>
          <a:xfrm>
            <a:off x="4709160" y="2240280"/>
            <a:ext cx="3154680" cy="502920"/>
          </a:xfrm>
          <a:prstGeom prst="rect">
            <a:avLst/>
          </a:prstGeom>
          <a:noFill/>
          <a:ln/>
        </p:spPr>
        <p:txBody>
          <a:bodyPr wrap="square" lIns="0" tIns="0" rIns="0" bIns="0" rtlCol="0" anchor="ctr"/>
          <a:lstStyle/>
          <a:p>
            <a:pPr indent="0" marL="0">
              <a:buNone/>
            </a:pPr>
            <a:r>
              <a:rPr lang="en-US" sz="2200" b="1" dirty="0">
                <a:solidFill>
                  <a:srgbClr val="F0E2C1"/>
                </a:solidFill>
                <a:latin typeface="Georgia" pitchFamily="34" charset="0"/>
                <a:ea typeface="Georgia" pitchFamily="34" charset="-122"/>
                <a:cs typeface="Georgia" pitchFamily="34" charset="-120"/>
              </a:rPr>
              <a:t>Intervenção</a:t>
            </a:r>
            <a:endParaRPr lang="en-US" sz="2200" dirty="0"/>
          </a:p>
        </p:txBody>
      </p:sp>
      <p:sp>
        <p:nvSpPr>
          <p:cNvPr id="18" name="Text 16"/>
          <p:cNvSpPr/>
          <p:nvPr/>
        </p:nvSpPr>
        <p:spPr>
          <a:xfrm>
            <a:off x="4709160" y="2743200"/>
            <a:ext cx="3154680" cy="274320"/>
          </a:xfrm>
          <a:prstGeom prst="rect">
            <a:avLst/>
          </a:prstGeom>
          <a:noFill/>
          <a:ln/>
        </p:spPr>
        <p:txBody>
          <a:bodyPr wrap="square" lIns="0" tIns="0" rIns="0" bIns="0" rtlCol="0" anchor="ctr"/>
          <a:lstStyle/>
          <a:p>
            <a:pPr indent="0" marL="0">
              <a:buNone/>
            </a:pPr>
            <a:r>
              <a:rPr lang="en-US" sz="1100" i="1" dirty="0">
                <a:solidFill>
                  <a:srgbClr val="C9B68A"/>
                </a:solidFill>
                <a:latin typeface="Calibri" pitchFamily="34" charset="0"/>
                <a:ea typeface="Calibri" pitchFamily="34" charset="-122"/>
                <a:cs typeface="Calibri" pitchFamily="34" charset="-120"/>
              </a:rPr>
              <a:t>ConcernScore 67+</a:t>
            </a:r>
            <a:endParaRPr lang="en-US" sz="1100" dirty="0"/>
          </a:p>
        </p:txBody>
      </p:sp>
      <p:sp>
        <p:nvSpPr>
          <p:cNvPr id="19" name="Shape 17"/>
          <p:cNvSpPr/>
          <p:nvPr/>
        </p:nvSpPr>
        <p:spPr>
          <a:xfrm>
            <a:off x="4709160" y="3108960"/>
            <a:ext cx="3154680" cy="0"/>
          </a:xfrm>
          <a:prstGeom prst="line">
            <a:avLst/>
          </a:prstGeom>
          <a:noFill/>
          <a:ln w="12700">
            <a:solidFill>
              <a:srgbClr val="3F342B"/>
            </a:solidFill>
            <a:prstDash val="solid"/>
          </a:ln>
        </p:spPr>
      </p:sp>
      <p:sp>
        <p:nvSpPr>
          <p:cNvPr id="20" name="Text 18"/>
          <p:cNvSpPr/>
          <p:nvPr/>
        </p:nvSpPr>
        <p:spPr>
          <a:xfrm>
            <a:off x="4709160" y="3200400"/>
            <a:ext cx="3154680" cy="173736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Jogador sabota o Opala (pneu, chave, bateria). João não corre. Raiva inicial: "Sua desgraça, o que cê fez?!" Epílogo ambíguo anos depois: "'valeu por ter roubado meu Opala.'"</a:t>
            </a:r>
            <a:endParaRPr lang="en-US" sz="1100" dirty="0"/>
          </a:p>
        </p:txBody>
      </p:sp>
      <p:sp>
        <p:nvSpPr>
          <p:cNvPr id="21" name="Shape 19"/>
          <p:cNvSpPr/>
          <p:nvPr/>
        </p:nvSpPr>
        <p:spPr>
          <a:xfrm>
            <a:off x="4709160" y="5029200"/>
            <a:ext cx="3154680" cy="0"/>
          </a:xfrm>
          <a:prstGeom prst="line">
            <a:avLst/>
          </a:prstGeom>
          <a:noFill/>
          <a:ln w="12700">
            <a:solidFill>
              <a:srgbClr val="3F342B"/>
            </a:solidFill>
            <a:prstDash val="solid"/>
          </a:ln>
        </p:spPr>
      </p:sp>
      <p:sp>
        <p:nvSpPr>
          <p:cNvPr id="22" name="Text 20"/>
          <p:cNvSpPr/>
          <p:nvPr/>
        </p:nvSpPr>
        <p:spPr>
          <a:xfrm>
            <a:off x="4709160" y="5120640"/>
            <a:ext cx="3154680" cy="640080"/>
          </a:xfrm>
          <a:prstGeom prst="rect">
            <a:avLst/>
          </a:prstGeom>
          <a:noFill/>
          <a:ln/>
        </p:spPr>
        <p:txBody>
          <a:bodyPr wrap="square" lIns="0" tIns="0" rIns="0" bIns="0" rtlCol="0" anchor="ctr"/>
          <a:lstStyle/>
          <a:p>
            <a:pPr indent="0" marL="0">
              <a:buNone/>
            </a:pPr>
            <a:r>
              <a:rPr lang="en-US" sz="1100" i="1" dirty="0">
                <a:solidFill>
                  <a:srgbClr val="B22222"/>
                </a:solidFill>
                <a:latin typeface="Georgia" pitchFamily="34" charset="0"/>
                <a:ea typeface="Georgia" pitchFamily="34" charset="-122"/>
                <a:cs typeface="Georgia" pitchFamily="34" charset="-120"/>
              </a:rPr>
              <a:t>"Eu roubei a escolha dele para lhe dar uma chance de ter outras."</a:t>
            </a:r>
            <a:endParaRPr lang="en-US" sz="1100" dirty="0"/>
          </a:p>
        </p:txBody>
      </p:sp>
      <p:sp>
        <p:nvSpPr>
          <p:cNvPr id="23" name="Shape 21"/>
          <p:cNvSpPr/>
          <p:nvPr/>
        </p:nvSpPr>
        <p:spPr>
          <a:xfrm>
            <a:off x="8229600" y="1783080"/>
            <a:ext cx="3520440" cy="4023360"/>
          </a:xfrm>
          <a:prstGeom prst="rect">
            <a:avLst/>
          </a:prstGeom>
          <a:solidFill>
            <a:srgbClr val="332A22"/>
          </a:solidFill>
          <a:ln w="12700">
            <a:solidFill>
              <a:srgbClr val="2A221B"/>
            </a:solidFill>
            <a:prstDash val="solid"/>
          </a:ln>
        </p:spPr>
      </p:sp>
      <p:sp>
        <p:nvSpPr>
          <p:cNvPr id="24" name="Shape 22"/>
          <p:cNvSpPr/>
          <p:nvPr/>
        </p:nvSpPr>
        <p:spPr>
          <a:xfrm>
            <a:off x="8229600" y="1783080"/>
            <a:ext cx="3520440" cy="109728"/>
          </a:xfrm>
          <a:prstGeom prst="rect">
            <a:avLst/>
          </a:prstGeom>
          <a:solidFill>
            <a:srgbClr val="C9B68A"/>
          </a:solidFill>
          <a:ln w="12700">
            <a:solidFill>
              <a:srgbClr val="C9B68A"/>
            </a:solidFill>
            <a:prstDash val="solid"/>
          </a:ln>
        </p:spPr>
      </p:sp>
      <p:sp>
        <p:nvSpPr>
          <p:cNvPr id="25" name="Text 23"/>
          <p:cNvSpPr/>
          <p:nvPr/>
        </p:nvSpPr>
        <p:spPr>
          <a:xfrm>
            <a:off x="8412480" y="1965960"/>
            <a:ext cx="315468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FINAL 3  •  HÍBRIDO</a:t>
            </a:r>
            <a:endParaRPr lang="en-US" sz="900" dirty="0"/>
          </a:p>
        </p:txBody>
      </p:sp>
      <p:sp>
        <p:nvSpPr>
          <p:cNvPr id="26" name="Text 24"/>
          <p:cNvSpPr/>
          <p:nvPr/>
        </p:nvSpPr>
        <p:spPr>
          <a:xfrm>
            <a:off x="8412480" y="2240280"/>
            <a:ext cx="3154680" cy="502920"/>
          </a:xfrm>
          <a:prstGeom prst="rect">
            <a:avLst/>
          </a:prstGeom>
          <a:noFill/>
          <a:ln/>
        </p:spPr>
        <p:txBody>
          <a:bodyPr wrap="square" lIns="0" tIns="0" rIns="0" bIns="0" rtlCol="0" anchor="ctr"/>
          <a:lstStyle/>
          <a:p>
            <a:pPr indent="0" marL="0">
              <a:buNone/>
            </a:pPr>
            <a:r>
              <a:rPr lang="en-US" sz="2200" b="1" dirty="0">
                <a:solidFill>
                  <a:srgbClr val="F0E2C1"/>
                </a:solidFill>
                <a:latin typeface="Georgia" pitchFamily="34" charset="0"/>
                <a:ea typeface="Georgia" pitchFamily="34" charset="-122"/>
                <a:cs typeface="Georgia" pitchFamily="34" charset="-120"/>
              </a:rPr>
              <a:t>Tentativa Frustrada</a:t>
            </a:r>
            <a:endParaRPr lang="en-US" sz="2200" dirty="0"/>
          </a:p>
        </p:txBody>
      </p:sp>
      <p:sp>
        <p:nvSpPr>
          <p:cNvPr id="27" name="Text 25"/>
          <p:cNvSpPr/>
          <p:nvPr/>
        </p:nvSpPr>
        <p:spPr>
          <a:xfrm>
            <a:off x="8412480" y="2743200"/>
            <a:ext cx="3154680" cy="274320"/>
          </a:xfrm>
          <a:prstGeom prst="rect">
            <a:avLst/>
          </a:prstGeom>
          <a:noFill/>
          <a:ln/>
        </p:spPr>
        <p:txBody>
          <a:bodyPr wrap="square" lIns="0" tIns="0" rIns="0" bIns="0" rtlCol="0" anchor="ctr"/>
          <a:lstStyle/>
          <a:p>
            <a:pPr indent="0" marL="0">
              <a:buNone/>
            </a:pPr>
            <a:r>
              <a:rPr lang="en-US" sz="1100" i="1" dirty="0">
                <a:solidFill>
                  <a:srgbClr val="C9B68A"/>
                </a:solidFill>
                <a:latin typeface="Calibri" pitchFamily="34" charset="0"/>
                <a:ea typeface="Calibri" pitchFamily="34" charset="-122"/>
                <a:cs typeface="Calibri" pitchFamily="34" charset="-120"/>
              </a:rPr>
              <a:t>ConcernScore 34–66</a:t>
            </a:r>
            <a:endParaRPr lang="en-US" sz="1100" dirty="0"/>
          </a:p>
        </p:txBody>
      </p:sp>
      <p:sp>
        <p:nvSpPr>
          <p:cNvPr id="28" name="Shape 26"/>
          <p:cNvSpPr/>
          <p:nvPr/>
        </p:nvSpPr>
        <p:spPr>
          <a:xfrm>
            <a:off x="8412480" y="3108960"/>
            <a:ext cx="3154680" cy="0"/>
          </a:xfrm>
          <a:prstGeom prst="line">
            <a:avLst/>
          </a:prstGeom>
          <a:noFill/>
          <a:ln w="12700">
            <a:solidFill>
              <a:srgbClr val="3F342B"/>
            </a:solidFill>
            <a:prstDash val="solid"/>
          </a:ln>
        </p:spPr>
      </p:sp>
      <p:sp>
        <p:nvSpPr>
          <p:cNvPr id="29" name="Text 27"/>
          <p:cNvSpPr/>
          <p:nvPr/>
        </p:nvSpPr>
        <p:spPr>
          <a:xfrm>
            <a:off x="8412480" y="3200400"/>
            <a:ext cx="3154680" cy="173736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Cena de intervenção aparece, mas João não acredita. "Cê tá careta, véi." Pega chaves reservas e corre de qualquer jeito. Morre na Curva do Diabo.</a:t>
            </a:r>
            <a:endParaRPr lang="en-US" sz="1100" dirty="0"/>
          </a:p>
        </p:txBody>
      </p:sp>
      <p:sp>
        <p:nvSpPr>
          <p:cNvPr id="30" name="Shape 28"/>
          <p:cNvSpPr/>
          <p:nvPr/>
        </p:nvSpPr>
        <p:spPr>
          <a:xfrm>
            <a:off x="8412480" y="5029200"/>
            <a:ext cx="3154680" cy="0"/>
          </a:xfrm>
          <a:prstGeom prst="line">
            <a:avLst/>
          </a:prstGeom>
          <a:noFill/>
          <a:ln w="12700">
            <a:solidFill>
              <a:srgbClr val="3F342B"/>
            </a:solidFill>
            <a:prstDash val="solid"/>
          </a:ln>
        </p:spPr>
      </p:sp>
      <p:sp>
        <p:nvSpPr>
          <p:cNvPr id="31" name="Text 29"/>
          <p:cNvSpPr/>
          <p:nvPr/>
        </p:nvSpPr>
        <p:spPr>
          <a:xfrm>
            <a:off x="8412480" y="5120640"/>
            <a:ext cx="3154680" cy="640080"/>
          </a:xfrm>
          <a:prstGeom prst="rect">
            <a:avLst/>
          </a:prstGeom>
          <a:noFill/>
          <a:ln/>
        </p:spPr>
        <p:txBody>
          <a:bodyPr wrap="square" lIns="0" tIns="0" rIns="0" bIns="0" rtlCol="0" anchor="ctr"/>
          <a:lstStyle/>
          <a:p>
            <a:pPr indent="0" marL="0">
              <a:buNone/>
            </a:pPr>
            <a:r>
              <a:rPr lang="en-US" sz="1100" i="1" dirty="0">
                <a:solidFill>
                  <a:srgbClr val="B22222"/>
                </a:solidFill>
                <a:latin typeface="Georgia" pitchFamily="34" charset="0"/>
                <a:ea typeface="Georgia" pitchFamily="34" charset="-122"/>
                <a:cs typeface="Georgia" pitchFamily="34" charset="-120"/>
              </a:rPr>
              <a:t>"O amor não foi rápido o suficiente."</a:t>
            </a:r>
            <a:endParaRPr lang="en-US" sz="1100" dirty="0"/>
          </a:p>
        </p:txBody>
      </p:sp>
      <p:sp>
        <p:nvSpPr>
          <p:cNvPr id="32" name="Text 30"/>
          <p:cNvSpPr/>
          <p:nvPr/>
        </p:nvSpPr>
        <p:spPr>
          <a:xfrm>
            <a:off x="822960" y="5943600"/>
            <a:ext cx="10972800" cy="457200"/>
          </a:xfrm>
          <a:prstGeom prst="rect">
            <a:avLst/>
          </a:prstGeom>
          <a:noFill/>
          <a:ln/>
        </p:spPr>
        <p:txBody>
          <a:bodyPr wrap="square" lIns="0" tIns="0" rIns="0" bIns="0" rtlCol="0" anchor="ctr"/>
          <a:lstStyle/>
          <a:p>
            <a:pPr algn="ctr" indent="0" marL="0">
              <a:buNone/>
            </a:pPr>
            <a:r>
              <a:rPr lang="en-US" sz="1200" i="1" dirty="0">
                <a:solidFill>
                  <a:srgbClr val="C9B68A"/>
                </a:solidFill>
                <a:latin typeface="Georgia" pitchFamily="34" charset="0"/>
                <a:ea typeface="Georgia" pitchFamily="34" charset="-122"/>
                <a:cs typeface="Georgia" pitchFamily="34" charset="-120"/>
              </a:rPr>
              <a:t>Por que três finais: sem o híbrido (Final 3), o jogo seria moralista. Com ele, é honesto — agir é melhor que não agir, mas não garante nada.</a:t>
            </a:r>
            <a:endParaRPr lang="en-US" sz="1200" dirty="0"/>
          </a:p>
        </p:txBody>
      </p:sp>
      <p:sp>
        <p:nvSpPr>
          <p:cNvPr id="33" name="Text 31"/>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34" name="Text 32"/>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11  •  DIREÇÃO DE ARTE</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Iluminura sepia bestiário medieval</a:t>
            </a:r>
            <a:endParaRPr lang="en-US" sz="3400" dirty="0"/>
          </a:p>
        </p:txBody>
      </p:sp>
      <p:sp>
        <p:nvSpPr>
          <p:cNvPr id="5" name="Text 3"/>
          <p:cNvSpPr/>
          <p:nvPr/>
        </p:nvSpPr>
        <p:spPr>
          <a:xfrm>
            <a:off x="822960" y="1783080"/>
            <a:ext cx="640080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O JOGO É UM CODEX PÓSTUMO</a:t>
            </a:r>
            <a:endParaRPr lang="en-US" sz="1000" dirty="0"/>
          </a:p>
        </p:txBody>
      </p:sp>
      <p:sp>
        <p:nvSpPr>
          <p:cNvPr id="6" name="Text 4"/>
          <p:cNvSpPr/>
          <p:nvPr/>
        </p:nvSpPr>
        <p:spPr>
          <a:xfrm>
            <a:off x="822960" y="2103120"/>
            <a:ext cx="6400800" cy="1188720"/>
          </a:xfrm>
          <a:prstGeom prst="rect">
            <a:avLst/>
          </a:prstGeom>
          <a:noFill/>
          <a:ln/>
        </p:spPr>
        <p:txBody>
          <a:bodyPr wrap="square" lIns="0" tIns="0" rIns="0" bIns="0" rtlCol="0" anchor="ctr"/>
          <a:lstStyle/>
          <a:p>
            <a:pPr indent="0" marL="0">
              <a:buNone/>
            </a:pPr>
            <a:r>
              <a:rPr lang="en-US" sz="1200" dirty="0">
                <a:solidFill>
                  <a:srgbClr val="F0E2C1"/>
                </a:solidFill>
                <a:latin typeface="Calibri" pitchFamily="34" charset="0"/>
                <a:ea typeface="Calibri" pitchFamily="34" charset="-122"/>
                <a:cs typeface="Calibri" pitchFamily="34" charset="-120"/>
              </a:rPr>
              <a:t>Base técnica: paleta monocromática sépia, linhas pretas puras, hachuras cruzadas a 30°/45°/60°, alto contraste, sensação de pergaminho. Anacronismo deliberado: Opala anos 80 + iluminura medieval = estranhamento potente, alinhado ao twist.</a:t>
            </a:r>
            <a:endParaRPr lang="en-US" sz="1200" dirty="0"/>
          </a:p>
        </p:txBody>
      </p:sp>
      <p:sp>
        <p:nvSpPr>
          <p:cNvPr id="7" name="Text 5"/>
          <p:cNvSpPr/>
          <p:nvPr/>
        </p:nvSpPr>
        <p:spPr>
          <a:xfrm>
            <a:off x="822960" y="3383280"/>
            <a:ext cx="640080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COMPOSIÇÃO</a:t>
            </a:r>
            <a:endParaRPr lang="en-US" sz="1000" dirty="0"/>
          </a:p>
        </p:txBody>
      </p:sp>
      <p:sp>
        <p:nvSpPr>
          <p:cNvPr id="8" name="Text 6"/>
          <p:cNvSpPr/>
          <p:nvPr/>
        </p:nvSpPr>
        <p:spPr>
          <a:xfrm>
            <a:off x="822960" y="3703320"/>
            <a:ext cx="6400800" cy="1645920"/>
          </a:xfrm>
          <a:prstGeom prst="rect">
            <a:avLst/>
          </a:prstGeom>
          <a:noFill/>
          <a:ln/>
        </p:spPr>
        <p:txBody>
          <a:bodyPr wrap="square" lIns="0" tIns="0" rIns="0" bIns="0" rtlCol="0" anchor="ctr"/>
          <a:lstStyle/>
          <a:p>
            <a:pPr indent="0" marL="0">
              <a:spcAft>
                <a:spcPts val="400"/>
              </a:spcAft>
              <a:buNone/>
            </a:pPr>
            <a:r>
              <a:rPr lang="en-US" sz="1200" b="1" dirty="0">
                <a:solidFill>
                  <a:srgbClr val="F0E2C1"/>
                </a:solidFill>
                <a:latin typeface="Calibri" pitchFamily="34" charset="0"/>
                <a:ea typeface="Calibri" pitchFamily="34" charset="-122"/>
                <a:cs typeface="Calibri" pitchFamily="34" charset="-120"/>
              </a:rPr>
              <a:t xml:space="preserve">Canvas 2×: </a:t>
            </a:r>
            <a:pPr indent="0" marL="0">
              <a:spcAft>
                <a:spcPts val="400"/>
              </a:spcAft>
              <a:buNone/>
            </a:pPr>
            <a:r>
              <a:rPr lang="en-US" sz="1200" dirty="0">
                <a:solidFill>
                  <a:srgbClr val="C9B68A"/>
                </a:solidFill>
                <a:latin typeface="Calibri" pitchFamily="34" charset="0"/>
                <a:ea typeface="Calibri" pitchFamily="34" charset="-122"/>
                <a:cs typeface="Calibri" pitchFamily="34" charset="-120"/>
              </a:rPr>
              <a:t>1008×1344 px → reduz pra 504×672 px.</a:t>
            </a:r>
            <a:endParaRPr lang="en-US" sz="1200" dirty="0"/>
          </a:p>
          <a:p>
            <a:pPr indent="0" marL="0">
              <a:spcAft>
                <a:spcPts val="400"/>
              </a:spcAft>
              <a:buNone/>
            </a:pPr>
            <a:r>
              <a:rPr lang="en-US" sz="1200" b="1" dirty="0">
                <a:solidFill>
                  <a:srgbClr val="F0E2C1"/>
                </a:solidFill>
                <a:latin typeface="Calibri" pitchFamily="34" charset="0"/>
                <a:ea typeface="Calibri" pitchFamily="34" charset="-122"/>
                <a:cs typeface="Calibri" pitchFamily="34" charset="-120"/>
              </a:rPr>
              <a:t xml:space="preserve">Personagens: </a:t>
            </a:r>
            <a:pPr indent="0" marL="0">
              <a:spcAft>
                <a:spcPts val="400"/>
              </a:spcAft>
              <a:buNone/>
            </a:pPr>
            <a:r>
              <a:rPr lang="en-US" sz="1200" dirty="0">
                <a:solidFill>
                  <a:srgbClr val="C9B68A"/>
                </a:solidFill>
                <a:latin typeface="Calibri" pitchFamily="34" charset="0"/>
                <a:ea typeface="Calibri" pitchFamily="34" charset="-122"/>
                <a:cs typeface="Calibri" pitchFamily="34" charset="-120"/>
              </a:rPr>
              <a:t>mesma altura de olhos e recorte de ombros (família visual).</a:t>
            </a:r>
            <a:endParaRPr lang="en-US" sz="1200" dirty="0"/>
          </a:p>
          <a:p>
            <a:pPr indent="0" marL="0">
              <a:spcAft>
                <a:spcPts val="400"/>
              </a:spcAft>
              <a:buNone/>
            </a:pPr>
            <a:r>
              <a:rPr lang="en-US" sz="1200" b="1" dirty="0">
                <a:solidFill>
                  <a:srgbClr val="F0E2C1"/>
                </a:solidFill>
                <a:latin typeface="Calibri" pitchFamily="34" charset="0"/>
                <a:ea typeface="Calibri" pitchFamily="34" charset="-122"/>
                <a:cs typeface="Calibri" pitchFamily="34" charset="-120"/>
              </a:rPr>
              <a:t xml:space="preserve">UI: </a:t>
            </a:r>
            <a:pPr indent="0" marL="0">
              <a:spcAft>
                <a:spcPts val="400"/>
              </a:spcAft>
              <a:buNone/>
            </a:pPr>
            <a:r>
              <a:rPr lang="en-US" sz="1200" dirty="0">
                <a:solidFill>
                  <a:srgbClr val="C9B68A"/>
                </a:solidFill>
                <a:latin typeface="Calibri" pitchFamily="34" charset="0"/>
                <a:ea typeface="Calibri" pitchFamily="34" charset="-122"/>
                <a:cs typeface="Calibri" pitchFamily="34" charset="-120"/>
              </a:rPr>
              <a:t>pergaminho como moldura; botões como carimbos a sépia.</a:t>
            </a:r>
            <a:endParaRPr lang="en-US" sz="1200" dirty="0"/>
          </a:p>
        </p:txBody>
      </p:sp>
      <p:sp>
        <p:nvSpPr>
          <p:cNvPr id="9" name="Text 7"/>
          <p:cNvSpPr/>
          <p:nvPr/>
        </p:nvSpPr>
        <p:spPr>
          <a:xfrm>
            <a:off x="7498080" y="1783080"/>
            <a:ext cx="411480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PALETA</a:t>
            </a:r>
            <a:endParaRPr lang="en-US" sz="1000" dirty="0"/>
          </a:p>
        </p:txBody>
      </p:sp>
      <p:sp>
        <p:nvSpPr>
          <p:cNvPr id="10" name="Shape 8"/>
          <p:cNvSpPr/>
          <p:nvPr/>
        </p:nvSpPr>
        <p:spPr>
          <a:xfrm>
            <a:off x="7498080" y="2103120"/>
            <a:ext cx="457200" cy="457200"/>
          </a:xfrm>
          <a:prstGeom prst="rect">
            <a:avLst/>
          </a:prstGeom>
          <a:solidFill>
            <a:srgbClr val="000000"/>
          </a:solidFill>
          <a:ln w="6350">
            <a:solidFill>
              <a:srgbClr val="F0E2C1"/>
            </a:solidFill>
            <a:prstDash val="solid"/>
          </a:ln>
        </p:spPr>
      </p:sp>
      <p:sp>
        <p:nvSpPr>
          <p:cNvPr id="11" name="Text 9"/>
          <p:cNvSpPr/>
          <p:nvPr/>
        </p:nvSpPr>
        <p:spPr>
          <a:xfrm>
            <a:off x="8092440" y="2121408"/>
            <a:ext cx="3383280" cy="22860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Linha preta</a:t>
            </a:r>
            <a:endParaRPr lang="en-US" sz="1100" dirty="0"/>
          </a:p>
        </p:txBody>
      </p:sp>
      <p:sp>
        <p:nvSpPr>
          <p:cNvPr id="12" name="Text 10"/>
          <p:cNvSpPr/>
          <p:nvPr/>
        </p:nvSpPr>
        <p:spPr>
          <a:xfrm>
            <a:off x="8092440" y="2331720"/>
            <a:ext cx="3383280" cy="228600"/>
          </a:xfrm>
          <a:prstGeom prst="rect">
            <a:avLst/>
          </a:prstGeom>
          <a:noFill/>
          <a:ln/>
        </p:spPr>
        <p:txBody>
          <a:bodyPr wrap="square" lIns="0" tIns="0" rIns="0" bIns="0" rtlCol="0" anchor="ctr"/>
          <a:lstStyle/>
          <a:p>
            <a:pPr indent="0" marL="0">
              <a:buNone/>
            </a:pPr>
            <a:r>
              <a:rPr lang="en-US" sz="1000" dirty="0">
                <a:solidFill>
                  <a:srgbClr val="C9B68A"/>
                </a:solidFill>
                <a:latin typeface="Consolas" pitchFamily="34" charset="0"/>
                <a:ea typeface="Consolas" pitchFamily="34" charset="-122"/>
                <a:cs typeface="Consolas" pitchFamily="34" charset="-120"/>
              </a:rPr>
              <a:t>#000000</a:t>
            </a:r>
            <a:endParaRPr lang="en-US" sz="1000" dirty="0"/>
          </a:p>
        </p:txBody>
      </p:sp>
      <p:sp>
        <p:nvSpPr>
          <p:cNvPr id="13" name="Shape 11"/>
          <p:cNvSpPr/>
          <p:nvPr/>
        </p:nvSpPr>
        <p:spPr>
          <a:xfrm>
            <a:off x="7498080" y="2651760"/>
            <a:ext cx="457200" cy="457200"/>
          </a:xfrm>
          <a:prstGeom prst="rect">
            <a:avLst/>
          </a:prstGeom>
          <a:solidFill>
            <a:srgbClr val="2A221B"/>
          </a:solidFill>
          <a:ln w="6350">
            <a:solidFill>
              <a:srgbClr val="F0E2C1"/>
            </a:solidFill>
            <a:prstDash val="solid"/>
          </a:ln>
        </p:spPr>
      </p:sp>
      <p:sp>
        <p:nvSpPr>
          <p:cNvPr id="14" name="Text 12"/>
          <p:cNvSpPr/>
          <p:nvPr/>
        </p:nvSpPr>
        <p:spPr>
          <a:xfrm>
            <a:off x="8092440" y="2670048"/>
            <a:ext cx="3383280" cy="22860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Sombra densa</a:t>
            </a:r>
            <a:endParaRPr lang="en-US" sz="1100" dirty="0"/>
          </a:p>
        </p:txBody>
      </p:sp>
      <p:sp>
        <p:nvSpPr>
          <p:cNvPr id="15" name="Text 13"/>
          <p:cNvSpPr/>
          <p:nvPr/>
        </p:nvSpPr>
        <p:spPr>
          <a:xfrm>
            <a:off x="8092440" y="2880360"/>
            <a:ext cx="3383280" cy="228600"/>
          </a:xfrm>
          <a:prstGeom prst="rect">
            <a:avLst/>
          </a:prstGeom>
          <a:noFill/>
          <a:ln/>
        </p:spPr>
        <p:txBody>
          <a:bodyPr wrap="square" lIns="0" tIns="0" rIns="0" bIns="0" rtlCol="0" anchor="ctr"/>
          <a:lstStyle/>
          <a:p>
            <a:pPr indent="0" marL="0">
              <a:buNone/>
            </a:pPr>
            <a:r>
              <a:rPr lang="en-US" sz="1000" dirty="0">
                <a:solidFill>
                  <a:srgbClr val="C9B68A"/>
                </a:solidFill>
                <a:latin typeface="Consolas" pitchFamily="34" charset="0"/>
                <a:ea typeface="Consolas" pitchFamily="34" charset="-122"/>
                <a:cs typeface="Consolas" pitchFamily="34" charset="-120"/>
              </a:rPr>
              <a:t>#2A221B</a:t>
            </a:r>
            <a:endParaRPr lang="en-US" sz="1000" dirty="0"/>
          </a:p>
        </p:txBody>
      </p:sp>
      <p:sp>
        <p:nvSpPr>
          <p:cNvPr id="16" name="Shape 14"/>
          <p:cNvSpPr/>
          <p:nvPr/>
        </p:nvSpPr>
        <p:spPr>
          <a:xfrm>
            <a:off x="7498080" y="3200400"/>
            <a:ext cx="457200" cy="457200"/>
          </a:xfrm>
          <a:prstGeom prst="rect">
            <a:avLst/>
          </a:prstGeom>
          <a:solidFill>
            <a:srgbClr val="3B2F2F"/>
          </a:solidFill>
          <a:ln w="6350">
            <a:solidFill>
              <a:srgbClr val="F0E2C1"/>
            </a:solidFill>
            <a:prstDash val="solid"/>
          </a:ln>
        </p:spPr>
      </p:sp>
      <p:sp>
        <p:nvSpPr>
          <p:cNvPr id="17" name="Text 15"/>
          <p:cNvSpPr/>
          <p:nvPr/>
        </p:nvSpPr>
        <p:spPr>
          <a:xfrm>
            <a:off x="8092440" y="3218688"/>
            <a:ext cx="3383280" cy="22860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Marrom médio</a:t>
            </a:r>
            <a:endParaRPr lang="en-US" sz="1100" dirty="0"/>
          </a:p>
        </p:txBody>
      </p:sp>
      <p:sp>
        <p:nvSpPr>
          <p:cNvPr id="18" name="Text 16"/>
          <p:cNvSpPr/>
          <p:nvPr/>
        </p:nvSpPr>
        <p:spPr>
          <a:xfrm>
            <a:off x="8092440" y="3429000"/>
            <a:ext cx="3383280" cy="228600"/>
          </a:xfrm>
          <a:prstGeom prst="rect">
            <a:avLst/>
          </a:prstGeom>
          <a:noFill/>
          <a:ln/>
        </p:spPr>
        <p:txBody>
          <a:bodyPr wrap="square" lIns="0" tIns="0" rIns="0" bIns="0" rtlCol="0" anchor="ctr"/>
          <a:lstStyle/>
          <a:p>
            <a:pPr indent="0" marL="0">
              <a:buNone/>
            </a:pPr>
            <a:r>
              <a:rPr lang="en-US" sz="1000" dirty="0">
                <a:solidFill>
                  <a:srgbClr val="C9B68A"/>
                </a:solidFill>
                <a:latin typeface="Consolas" pitchFamily="34" charset="0"/>
                <a:ea typeface="Consolas" pitchFamily="34" charset="-122"/>
                <a:cs typeface="Consolas" pitchFamily="34" charset="-120"/>
              </a:rPr>
              <a:t>#3B2F2F</a:t>
            </a:r>
            <a:endParaRPr lang="en-US" sz="1000" dirty="0"/>
          </a:p>
        </p:txBody>
      </p:sp>
      <p:sp>
        <p:nvSpPr>
          <p:cNvPr id="19" name="Shape 17"/>
          <p:cNvSpPr/>
          <p:nvPr/>
        </p:nvSpPr>
        <p:spPr>
          <a:xfrm>
            <a:off x="7498080" y="3749040"/>
            <a:ext cx="457200" cy="457200"/>
          </a:xfrm>
          <a:prstGeom prst="rect">
            <a:avLst/>
          </a:prstGeom>
          <a:solidFill>
            <a:srgbClr val="C9B68A"/>
          </a:solidFill>
          <a:ln w="6350">
            <a:solidFill>
              <a:srgbClr val="F0E2C1"/>
            </a:solidFill>
            <a:prstDash val="solid"/>
          </a:ln>
        </p:spPr>
      </p:sp>
      <p:sp>
        <p:nvSpPr>
          <p:cNvPr id="20" name="Text 18"/>
          <p:cNvSpPr/>
          <p:nvPr/>
        </p:nvSpPr>
        <p:spPr>
          <a:xfrm>
            <a:off x="8092440" y="3767328"/>
            <a:ext cx="3383280" cy="22860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Sépia envelhecido</a:t>
            </a:r>
            <a:endParaRPr lang="en-US" sz="1100" dirty="0"/>
          </a:p>
        </p:txBody>
      </p:sp>
      <p:sp>
        <p:nvSpPr>
          <p:cNvPr id="21" name="Text 19"/>
          <p:cNvSpPr/>
          <p:nvPr/>
        </p:nvSpPr>
        <p:spPr>
          <a:xfrm>
            <a:off x="8092440" y="3977640"/>
            <a:ext cx="3383280" cy="228600"/>
          </a:xfrm>
          <a:prstGeom prst="rect">
            <a:avLst/>
          </a:prstGeom>
          <a:noFill/>
          <a:ln/>
        </p:spPr>
        <p:txBody>
          <a:bodyPr wrap="square" lIns="0" tIns="0" rIns="0" bIns="0" rtlCol="0" anchor="ctr"/>
          <a:lstStyle/>
          <a:p>
            <a:pPr indent="0" marL="0">
              <a:buNone/>
            </a:pPr>
            <a:r>
              <a:rPr lang="en-US" sz="1000" dirty="0">
                <a:solidFill>
                  <a:srgbClr val="C9B68A"/>
                </a:solidFill>
                <a:latin typeface="Consolas" pitchFamily="34" charset="0"/>
                <a:ea typeface="Consolas" pitchFamily="34" charset="-122"/>
                <a:cs typeface="Consolas" pitchFamily="34" charset="-120"/>
              </a:rPr>
              <a:t>#C9B68A</a:t>
            </a:r>
            <a:endParaRPr lang="en-US" sz="1000" dirty="0"/>
          </a:p>
        </p:txBody>
      </p:sp>
      <p:sp>
        <p:nvSpPr>
          <p:cNvPr id="22" name="Shape 20"/>
          <p:cNvSpPr/>
          <p:nvPr/>
        </p:nvSpPr>
        <p:spPr>
          <a:xfrm>
            <a:off x="7498080" y="4297680"/>
            <a:ext cx="457200" cy="457200"/>
          </a:xfrm>
          <a:prstGeom prst="rect">
            <a:avLst/>
          </a:prstGeom>
          <a:solidFill>
            <a:srgbClr val="F0E2C1"/>
          </a:solidFill>
          <a:ln w="6350">
            <a:solidFill>
              <a:srgbClr val="F0E2C1"/>
            </a:solidFill>
            <a:prstDash val="solid"/>
          </a:ln>
        </p:spPr>
      </p:sp>
      <p:sp>
        <p:nvSpPr>
          <p:cNvPr id="23" name="Text 21"/>
          <p:cNvSpPr/>
          <p:nvPr/>
        </p:nvSpPr>
        <p:spPr>
          <a:xfrm>
            <a:off x="8092440" y="4315968"/>
            <a:ext cx="3383280" cy="22860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Pergaminho</a:t>
            </a:r>
            <a:endParaRPr lang="en-US" sz="1100" dirty="0"/>
          </a:p>
        </p:txBody>
      </p:sp>
      <p:sp>
        <p:nvSpPr>
          <p:cNvPr id="24" name="Text 22"/>
          <p:cNvSpPr/>
          <p:nvPr/>
        </p:nvSpPr>
        <p:spPr>
          <a:xfrm>
            <a:off x="8092440" y="4526280"/>
            <a:ext cx="3383280" cy="228600"/>
          </a:xfrm>
          <a:prstGeom prst="rect">
            <a:avLst/>
          </a:prstGeom>
          <a:noFill/>
          <a:ln/>
        </p:spPr>
        <p:txBody>
          <a:bodyPr wrap="square" lIns="0" tIns="0" rIns="0" bIns="0" rtlCol="0" anchor="ctr"/>
          <a:lstStyle/>
          <a:p>
            <a:pPr indent="0" marL="0">
              <a:buNone/>
            </a:pPr>
            <a:r>
              <a:rPr lang="en-US" sz="1000" dirty="0">
                <a:solidFill>
                  <a:srgbClr val="C9B68A"/>
                </a:solidFill>
                <a:latin typeface="Consolas" pitchFamily="34" charset="0"/>
                <a:ea typeface="Consolas" pitchFamily="34" charset="-122"/>
                <a:cs typeface="Consolas" pitchFamily="34" charset="-120"/>
              </a:rPr>
              <a:t>#F0E2C1</a:t>
            </a:r>
            <a:endParaRPr lang="en-US" sz="1000" dirty="0"/>
          </a:p>
        </p:txBody>
      </p:sp>
      <p:sp>
        <p:nvSpPr>
          <p:cNvPr id="25" name="Shape 23"/>
          <p:cNvSpPr/>
          <p:nvPr/>
        </p:nvSpPr>
        <p:spPr>
          <a:xfrm>
            <a:off x="7498080" y="4846320"/>
            <a:ext cx="457200" cy="457200"/>
          </a:xfrm>
          <a:prstGeom prst="rect">
            <a:avLst/>
          </a:prstGeom>
          <a:solidFill>
            <a:srgbClr val="8B0000"/>
          </a:solidFill>
          <a:ln w="6350">
            <a:solidFill>
              <a:srgbClr val="F0E2C1"/>
            </a:solidFill>
            <a:prstDash val="solid"/>
          </a:ln>
        </p:spPr>
      </p:sp>
      <p:sp>
        <p:nvSpPr>
          <p:cNvPr id="26" name="Text 24"/>
          <p:cNvSpPr/>
          <p:nvPr/>
        </p:nvSpPr>
        <p:spPr>
          <a:xfrm>
            <a:off x="8092440" y="4864608"/>
            <a:ext cx="3383280" cy="228600"/>
          </a:xfrm>
          <a:prstGeom prst="rect">
            <a:avLst/>
          </a:prstGeom>
          <a:noFill/>
          <a:ln/>
        </p:spPr>
        <p:txBody>
          <a:bodyPr wrap="square" lIns="0" tIns="0" rIns="0" bIns="0" rtlCol="0" anchor="ctr"/>
          <a:lstStyle/>
          <a:p>
            <a:pPr indent="0" marL="0">
              <a:buNone/>
            </a:pPr>
            <a:r>
              <a:rPr lang="en-US" sz="1100" b="1" dirty="0">
                <a:solidFill>
                  <a:srgbClr val="F0E2C1"/>
                </a:solidFill>
                <a:latin typeface="Calibri" pitchFamily="34" charset="0"/>
                <a:ea typeface="Calibri" pitchFamily="34" charset="-122"/>
                <a:cs typeface="Calibri" pitchFamily="34" charset="-120"/>
              </a:rPr>
              <a:t>Vermelho sangue</a:t>
            </a:r>
            <a:endParaRPr lang="en-US" sz="1100" dirty="0"/>
          </a:p>
        </p:txBody>
      </p:sp>
      <p:sp>
        <p:nvSpPr>
          <p:cNvPr id="27" name="Text 25"/>
          <p:cNvSpPr/>
          <p:nvPr/>
        </p:nvSpPr>
        <p:spPr>
          <a:xfrm>
            <a:off x="8092440" y="5074920"/>
            <a:ext cx="3383280" cy="228600"/>
          </a:xfrm>
          <a:prstGeom prst="rect">
            <a:avLst/>
          </a:prstGeom>
          <a:noFill/>
          <a:ln/>
        </p:spPr>
        <p:txBody>
          <a:bodyPr wrap="square" lIns="0" tIns="0" rIns="0" bIns="0" rtlCol="0" anchor="ctr"/>
          <a:lstStyle/>
          <a:p>
            <a:pPr indent="0" marL="0">
              <a:buNone/>
            </a:pPr>
            <a:r>
              <a:rPr lang="en-US" sz="1000" dirty="0">
                <a:solidFill>
                  <a:srgbClr val="C9B68A"/>
                </a:solidFill>
                <a:latin typeface="Consolas" pitchFamily="34" charset="0"/>
                <a:ea typeface="Consolas" pitchFamily="34" charset="-122"/>
                <a:cs typeface="Consolas" pitchFamily="34" charset="-120"/>
              </a:rPr>
              <a:t>#8B0000</a:t>
            </a:r>
            <a:endParaRPr lang="en-US" sz="1000" dirty="0"/>
          </a:p>
        </p:txBody>
      </p:sp>
      <p:sp>
        <p:nvSpPr>
          <p:cNvPr id="28" name="Shape 26"/>
          <p:cNvSpPr/>
          <p:nvPr/>
        </p:nvSpPr>
        <p:spPr>
          <a:xfrm>
            <a:off x="822960" y="5623560"/>
            <a:ext cx="10972800" cy="640080"/>
          </a:xfrm>
          <a:prstGeom prst="rect">
            <a:avLst/>
          </a:prstGeom>
          <a:solidFill>
            <a:srgbClr val="3F342B"/>
          </a:solidFill>
          <a:ln w="12700">
            <a:solidFill>
              <a:srgbClr val="2A221B"/>
            </a:solidFill>
            <a:prstDash val="solid"/>
          </a:ln>
        </p:spPr>
      </p:sp>
      <p:sp>
        <p:nvSpPr>
          <p:cNvPr id="29" name="Text 27"/>
          <p:cNvSpPr/>
          <p:nvPr/>
        </p:nvSpPr>
        <p:spPr>
          <a:xfrm>
            <a:off x="1005840" y="5715000"/>
            <a:ext cx="10607040" cy="457200"/>
          </a:xfrm>
          <a:prstGeom prst="rect">
            <a:avLst/>
          </a:prstGeom>
          <a:noFill/>
          <a:ln/>
        </p:spPr>
        <p:txBody>
          <a:bodyPr wrap="square" lIns="0" tIns="0" rIns="0" bIns="0" rtlCol="0" anchor="ctr"/>
          <a:lstStyle/>
          <a:p>
            <a:pPr indent="0" marL="0">
              <a:buNone/>
            </a:pPr>
            <a:r>
              <a:rPr lang="en-US" sz="1100" b="1" dirty="0">
                <a:solidFill>
                  <a:srgbClr val="B22222"/>
                </a:solidFill>
                <a:latin typeface="Calibri" pitchFamily="34" charset="0"/>
                <a:ea typeface="Calibri" pitchFamily="34" charset="-122"/>
                <a:cs typeface="Calibri" pitchFamily="34" charset="-120"/>
              </a:rPr>
              <a:t xml:space="preserve">Regra do vermelho: </a:t>
            </a:r>
            <a:pPr indent="0" marL="0">
              <a:buNone/>
            </a:pPr>
            <a:r>
              <a:rPr lang="en-US" sz="1100" dirty="0">
                <a:solidFill>
                  <a:srgbClr val="F0E2C1"/>
                </a:solidFill>
                <a:latin typeface="Calibri" pitchFamily="34" charset="0"/>
                <a:ea typeface="Calibri" pitchFamily="34" charset="-122"/>
                <a:cs typeface="Calibri" pitchFamily="34" charset="-120"/>
              </a:rPr>
              <a:t>sangue (#8B0000) só em crash, foto rasgada, letra de bilhete ou olhos vermelhos. Qualquer outro uso é proibido.</a:t>
            </a:r>
            <a:endParaRPr lang="en-US" sz="1100" dirty="0"/>
          </a:p>
        </p:txBody>
      </p:sp>
      <p:sp>
        <p:nvSpPr>
          <p:cNvPr id="30" name="Text 28"/>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31" name="Text 29"/>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12  •  DIREÇÃO SONORA</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Pós-punk BR original + fita K7 como sintoma</a:t>
            </a:r>
            <a:endParaRPr lang="en-US" sz="3400" dirty="0"/>
          </a:p>
        </p:txBody>
      </p:sp>
      <p:sp>
        <p:nvSpPr>
          <p:cNvPr id="5" name="Shape 3"/>
          <p:cNvSpPr/>
          <p:nvPr/>
        </p:nvSpPr>
        <p:spPr>
          <a:xfrm>
            <a:off x="822960" y="1783080"/>
            <a:ext cx="5349240" cy="4114800"/>
          </a:xfrm>
          <a:prstGeom prst="rect">
            <a:avLst/>
          </a:prstGeom>
          <a:solidFill>
            <a:srgbClr val="332A22"/>
          </a:solidFill>
          <a:ln w="12700">
            <a:solidFill>
              <a:srgbClr val="2A221B"/>
            </a:solidFill>
            <a:prstDash val="solid"/>
          </a:ln>
        </p:spPr>
      </p:sp>
      <p:sp>
        <p:nvSpPr>
          <p:cNvPr id="6" name="Text 4"/>
          <p:cNvSpPr/>
          <p:nvPr/>
        </p:nvSpPr>
        <p:spPr>
          <a:xfrm>
            <a:off x="1005840" y="1920240"/>
            <a:ext cx="5029200" cy="274320"/>
          </a:xfrm>
          <a:prstGeom prst="rect">
            <a:avLst/>
          </a:prstGeom>
          <a:noFill/>
          <a:ln/>
        </p:spPr>
        <p:txBody>
          <a:bodyPr wrap="square" lIns="0" tIns="0" rIns="0" bIns="0" rtlCol="0" anchor="ctr"/>
          <a:lstStyle/>
          <a:p>
            <a:pPr indent="0" marL="0">
              <a:buNone/>
            </a:pPr>
            <a:r>
              <a:rPr lang="en-US" sz="1000" b="1" spc="500" kern="0" dirty="0">
                <a:solidFill>
                  <a:srgbClr val="B22222"/>
                </a:solidFill>
                <a:latin typeface="Calibri" pitchFamily="34" charset="0"/>
                <a:ea typeface="Calibri" pitchFamily="34" charset="-122"/>
                <a:cs typeface="Calibri" pitchFamily="34" charset="-120"/>
              </a:rPr>
              <a:t>TRILHA</a:t>
            </a:r>
            <a:endParaRPr lang="en-US" sz="1000" dirty="0"/>
          </a:p>
        </p:txBody>
      </p:sp>
      <p:sp>
        <p:nvSpPr>
          <p:cNvPr id="7" name="Text 5"/>
          <p:cNvSpPr/>
          <p:nvPr/>
        </p:nvSpPr>
        <p:spPr>
          <a:xfrm>
            <a:off x="1005840" y="2194560"/>
            <a:ext cx="5029200" cy="365760"/>
          </a:xfrm>
          <a:prstGeom prst="rect">
            <a:avLst/>
          </a:prstGeom>
          <a:noFill/>
          <a:ln/>
        </p:spPr>
        <p:txBody>
          <a:bodyPr wrap="square" lIns="0" tIns="0" rIns="0" bIns="0" rtlCol="0" anchor="ctr"/>
          <a:lstStyle/>
          <a:p>
            <a:pPr indent="0" marL="0">
              <a:buNone/>
            </a:pPr>
            <a:r>
              <a:rPr lang="en-US" sz="1600" b="1" dirty="0">
                <a:solidFill>
                  <a:srgbClr val="F0E2C1"/>
                </a:solidFill>
                <a:latin typeface="Georgia" pitchFamily="34" charset="0"/>
                <a:ea typeface="Georgia" pitchFamily="34" charset="-122"/>
                <a:cs typeface="Georgia" pitchFamily="34" charset="-120"/>
              </a:rPr>
              <a:t>Pós-punk BR original (ZERO IA)</a:t>
            </a:r>
            <a:endParaRPr lang="en-US" sz="1600" dirty="0"/>
          </a:p>
        </p:txBody>
      </p:sp>
      <p:sp>
        <p:nvSpPr>
          <p:cNvPr id="8" name="Text 6"/>
          <p:cNvSpPr/>
          <p:nvPr/>
        </p:nvSpPr>
        <p:spPr>
          <a:xfrm>
            <a:off x="1005840" y="2606040"/>
            <a:ext cx="5029200" cy="1463040"/>
          </a:xfrm>
          <a:prstGeom prst="rect">
            <a:avLst/>
          </a:prstGeom>
          <a:noFill/>
          <a:ln/>
        </p:spPr>
        <p:txBody>
          <a:bodyPr wrap="square" lIns="0" tIns="0" rIns="0" bIns="0" rtlCol="0" anchor="ctr"/>
          <a:lstStyle/>
          <a:p>
            <a:pPr indent="0" marL="0">
              <a:spcAft>
                <a:spcPts val="500"/>
              </a:spcAft>
              <a:buNone/>
            </a:pPr>
            <a:r>
              <a:rPr lang="en-US" sz="1100" b="1" dirty="0">
                <a:solidFill>
                  <a:srgbClr val="C9B68A"/>
                </a:solidFill>
                <a:latin typeface="Calibri" pitchFamily="34" charset="0"/>
                <a:ea typeface="Calibri" pitchFamily="34" charset="-122"/>
                <a:cs typeface="Calibri" pitchFamily="34" charset="-120"/>
              </a:rPr>
              <a:t xml:space="preserve">Referências de gênero: </a:t>
            </a:r>
            <a:pPr indent="0" marL="0">
              <a:spcAft>
                <a:spcPts val="500"/>
              </a:spcAft>
              <a:buNone/>
            </a:pPr>
            <a:r>
              <a:rPr lang="en-US" sz="1100" dirty="0">
                <a:solidFill>
                  <a:srgbClr val="F0E2C1"/>
                </a:solidFill>
                <a:latin typeface="Calibri" pitchFamily="34" charset="0"/>
                <a:ea typeface="Calibri" pitchFamily="34" charset="-122"/>
                <a:cs typeface="Calibri" pitchFamily="34" charset="-120"/>
              </a:rPr>
              <a:t>Plebe Rude, Capital Inicial, Replicantes.</a:t>
            </a:r>
            <a:endParaRPr lang="en-US" sz="1100" dirty="0"/>
          </a:p>
          <a:p>
            <a:pPr indent="0" marL="0">
              <a:spcAft>
                <a:spcPts val="500"/>
              </a:spcAft>
              <a:buNone/>
            </a:pPr>
            <a:r>
              <a:rPr lang="en-US" sz="1100" b="1" dirty="0">
                <a:solidFill>
                  <a:srgbClr val="C9B68A"/>
                </a:solidFill>
                <a:latin typeface="Calibri" pitchFamily="34" charset="0"/>
                <a:ea typeface="Calibri" pitchFamily="34" charset="-122"/>
                <a:cs typeface="Calibri" pitchFamily="34" charset="-120"/>
              </a:rPr>
              <a:t xml:space="preserve">Composição: </a:t>
            </a:r>
            <a:pPr indent="0" marL="0">
              <a:spcAft>
                <a:spcPts val="500"/>
              </a:spcAft>
              <a:buNone/>
            </a:pPr>
            <a:r>
              <a:rPr lang="en-US" sz="1100" dirty="0">
                <a:solidFill>
                  <a:srgbClr val="F0E2C1"/>
                </a:solidFill>
                <a:latin typeface="Calibri" pitchFamily="34" charset="0"/>
                <a:ea typeface="Calibri" pitchFamily="34" charset="-122"/>
                <a:cs typeface="Calibri" pitchFamily="34" charset="-120"/>
              </a:rPr>
              <a:t>1 tema base + 3 variações (energia → raiva → resignação).</a:t>
            </a:r>
            <a:endParaRPr lang="en-US" sz="1100" dirty="0"/>
          </a:p>
          <a:p>
            <a:pPr indent="0" marL="0">
              <a:spcAft>
                <a:spcPts val="500"/>
              </a:spcAft>
              <a:buNone/>
            </a:pPr>
            <a:r>
              <a:rPr lang="en-US" sz="1100" b="1" dirty="0">
                <a:solidFill>
                  <a:srgbClr val="C9B68A"/>
                </a:solidFill>
                <a:latin typeface="Calibri" pitchFamily="34" charset="0"/>
                <a:ea typeface="Calibri" pitchFamily="34" charset="-122"/>
                <a:cs typeface="Calibri" pitchFamily="34" charset="-120"/>
              </a:rPr>
              <a:t xml:space="preserve">Restrição legal: </a:t>
            </a:r>
            <a:pPr indent="0" marL="0">
              <a:spcAft>
                <a:spcPts val="500"/>
              </a:spcAft>
              <a:buNone/>
            </a:pPr>
            <a:r>
              <a:rPr lang="en-US" sz="1100" dirty="0">
                <a:solidFill>
                  <a:srgbClr val="F0E2C1"/>
                </a:solidFill>
                <a:latin typeface="Calibri" pitchFamily="34" charset="0"/>
                <a:ea typeface="Calibri" pitchFamily="34" charset="-122"/>
                <a:cs typeface="Calibri" pitchFamily="34" charset="-120"/>
              </a:rPr>
              <a:t>NÃO usar gravação ou letra do Legião. Inspirar-se no gênero, compor do zero.</a:t>
            </a:r>
            <a:endParaRPr lang="en-US" sz="1100" dirty="0"/>
          </a:p>
        </p:txBody>
      </p:sp>
      <p:sp>
        <p:nvSpPr>
          <p:cNvPr id="9" name="Shape 7"/>
          <p:cNvSpPr/>
          <p:nvPr/>
        </p:nvSpPr>
        <p:spPr>
          <a:xfrm>
            <a:off x="1005840" y="4206240"/>
            <a:ext cx="5029200" cy="0"/>
          </a:xfrm>
          <a:prstGeom prst="line">
            <a:avLst/>
          </a:prstGeom>
          <a:noFill/>
          <a:ln w="12700">
            <a:solidFill>
              <a:srgbClr val="3F342B"/>
            </a:solidFill>
            <a:prstDash val="solid"/>
          </a:ln>
        </p:spPr>
      </p:sp>
      <p:sp>
        <p:nvSpPr>
          <p:cNvPr id="10" name="Text 8"/>
          <p:cNvSpPr/>
          <p:nvPr/>
        </p:nvSpPr>
        <p:spPr>
          <a:xfrm>
            <a:off x="1005840" y="4297680"/>
            <a:ext cx="5029200" cy="228600"/>
          </a:xfrm>
          <a:prstGeom prst="rect">
            <a:avLst/>
          </a:prstGeom>
          <a:noFill/>
          <a:ln/>
        </p:spPr>
        <p:txBody>
          <a:bodyPr wrap="square" lIns="0" tIns="0" rIns="0" bIns="0" rtlCol="0" anchor="ctr"/>
          <a:lstStyle/>
          <a:p>
            <a:pPr indent="0" marL="0">
              <a:buNone/>
            </a:pPr>
            <a:r>
              <a:rPr lang="en-US" sz="900" b="1" spc="300" kern="0" dirty="0">
                <a:solidFill>
                  <a:srgbClr val="B22222"/>
                </a:solidFill>
                <a:latin typeface="Calibri" pitchFamily="34" charset="0"/>
                <a:ea typeface="Calibri" pitchFamily="34" charset="-122"/>
                <a:cs typeface="Calibri" pitchFamily="34" charset="-120"/>
              </a:rPr>
              <a:t>VARIAÇÃO POR CORRIDA</a:t>
            </a:r>
            <a:endParaRPr lang="en-US" sz="900" dirty="0"/>
          </a:p>
        </p:txBody>
      </p:sp>
      <p:sp>
        <p:nvSpPr>
          <p:cNvPr id="11" name="Text 9"/>
          <p:cNvSpPr/>
          <p:nvPr/>
        </p:nvSpPr>
        <p:spPr>
          <a:xfrm>
            <a:off x="1005840" y="4572000"/>
            <a:ext cx="5029200" cy="1188720"/>
          </a:xfrm>
          <a:prstGeom prst="rect">
            <a:avLst/>
          </a:prstGeom>
          <a:noFill/>
          <a:ln/>
        </p:spPr>
        <p:txBody>
          <a:bodyPr wrap="square" lIns="0" tIns="0" rIns="0" bIns="0" rtlCol="0" anchor="ctr"/>
          <a:lstStyle/>
          <a:p>
            <a:pPr indent="0" marL="0">
              <a:spcAft>
                <a:spcPts val="400"/>
              </a:spcAft>
              <a:buNone/>
            </a:pPr>
            <a:r>
              <a:rPr lang="en-US" sz="1100" b="1" dirty="0">
                <a:solidFill>
                  <a:srgbClr val="F0E2C1"/>
                </a:solidFill>
                <a:latin typeface="Calibri" pitchFamily="34" charset="0"/>
                <a:ea typeface="Calibri" pitchFamily="34" charset="-122"/>
                <a:cs typeface="Calibri" pitchFamily="34" charset="-120"/>
              </a:rPr>
              <a:t xml:space="preserve">Corrida 1: </a:t>
            </a:r>
            <a:pPr indent="0" marL="0">
              <a:spcAft>
                <a:spcPts val="400"/>
              </a:spcAft>
              <a:buNone/>
            </a:pPr>
            <a:r>
              <a:rPr lang="en-US" sz="1100" dirty="0">
                <a:solidFill>
                  <a:srgbClr val="C9B68A"/>
                </a:solidFill>
                <a:latin typeface="Calibri" pitchFamily="34" charset="0"/>
                <a:ea typeface="Calibri" pitchFamily="34" charset="-122"/>
                <a:cs typeface="Calibri" pitchFamily="34" charset="-120"/>
              </a:rPr>
              <a:t>Plebe Rude / Capital Inicial (energia)</a:t>
            </a:r>
            <a:endParaRPr lang="en-US" sz="1100" dirty="0"/>
          </a:p>
          <a:p>
            <a:pPr indent="0" marL="0">
              <a:spcAft>
                <a:spcPts val="400"/>
              </a:spcAft>
              <a:buNone/>
            </a:pPr>
            <a:r>
              <a:rPr lang="en-US" sz="1100" b="1" dirty="0">
                <a:solidFill>
                  <a:srgbClr val="F0E2C1"/>
                </a:solidFill>
                <a:latin typeface="Calibri" pitchFamily="34" charset="0"/>
                <a:ea typeface="Calibri" pitchFamily="34" charset="-122"/>
                <a:cs typeface="Calibri" pitchFamily="34" charset="-120"/>
              </a:rPr>
              <a:t xml:space="preserve">Corrida 2: </a:t>
            </a:r>
            <a:pPr indent="0" marL="0">
              <a:spcAft>
                <a:spcPts val="400"/>
              </a:spcAft>
              <a:buNone/>
            </a:pPr>
            <a:r>
              <a:rPr lang="en-US" sz="1100" dirty="0">
                <a:solidFill>
                  <a:srgbClr val="C9B68A"/>
                </a:solidFill>
                <a:latin typeface="Calibri" pitchFamily="34" charset="0"/>
                <a:ea typeface="Calibri" pitchFamily="34" charset="-122"/>
                <a:cs typeface="Calibri" pitchFamily="34" charset="-120"/>
              </a:rPr>
              <a:t>The Clash / Sex Pistols (raiva)</a:t>
            </a:r>
            <a:endParaRPr lang="en-US" sz="1100" dirty="0"/>
          </a:p>
          <a:p>
            <a:pPr indent="0" marL="0">
              <a:spcAft>
                <a:spcPts val="400"/>
              </a:spcAft>
              <a:buNone/>
            </a:pPr>
            <a:r>
              <a:rPr lang="en-US" sz="1100" b="1" dirty="0">
                <a:solidFill>
                  <a:srgbClr val="F0E2C1"/>
                </a:solidFill>
                <a:latin typeface="Calibri" pitchFamily="34" charset="0"/>
                <a:ea typeface="Calibri" pitchFamily="34" charset="-122"/>
                <a:cs typeface="Calibri" pitchFamily="34" charset="-120"/>
              </a:rPr>
              <a:t xml:space="preserve">Corrida 3: </a:t>
            </a:r>
            <a:pPr indent="0" marL="0">
              <a:spcAft>
                <a:spcPts val="400"/>
              </a:spcAft>
              <a:buNone/>
            </a:pPr>
            <a:r>
              <a:rPr lang="en-US" sz="1100" dirty="0">
                <a:solidFill>
                  <a:srgbClr val="C9B68A"/>
                </a:solidFill>
                <a:latin typeface="Calibri" pitchFamily="34" charset="0"/>
                <a:ea typeface="Calibri" pitchFamily="34" charset="-122"/>
                <a:cs typeface="Calibri" pitchFamily="34" charset="-120"/>
              </a:rPr>
              <a:t>Joy Division / The Smiths (resignação)</a:t>
            </a:r>
            <a:endParaRPr lang="en-US" sz="1100" dirty="0"/>
          </a:p>
        </p:txBody>
      </p:sp>
      <p:sp>
        <p:nvSpPr>
          <p:cNvPr id="12" name="Shape 10"/>
          <p:cNvSpPr/>
          <p:nvPr/>
        </p:nvSpPr>
        <p:spPr>
          <a:xfrm>
            <a:off x="6355080" y="1783080"/>
            <a:ext cx="5440680" cy="4114800"/>
          </a:xfrm>
          <a:prstGeom prst="rect">
            <a:avLst/>
          </a:prstGeom>
          <a:solidFill>
            <a:srgbClr val="332A22"/>
          </a:solidFill>
          <a:ln w="12700">
            <a:solidFill>
              <a:srgbClr val="2A221B"/>
            </a:solidFill>
            <a:prstDash val="solid"/>
          </a:ln>
        </p:spPr>
      </p:sp>
      <p:sp>
        <p:nvSpPr>
          <p:cNvPr id="13" name="Text 11"/>
          <p:cNvSpPr/>
          <p:nvPr/>
        </p:nvSpPr>
        <p:spPr>
          <a:xfrm>
            <a:off x="6537960" y="1920240"/>
            <a:ext cx="512064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DIEGESE — ÁUDIO COMO DIAGNÓSTICO</a:t>
            </a:r>
            <a:endParaRPr lang="en-US" sz="1000" dirty="0"/>
          </a:p>
        </p:txBody>
      </p:sp>
      <p:sp>
        <p:nvSpPr>
          <p:cNvPr id="14" name="Text 12"/>
          <p:cNvSpPr/>
          <p:nvPr/>
        </p:nvSpPr>
        <p:spPr>
          <a:xfrm>
            <a:off x="6537960" y="2194560"/>
            <a:ext cx="5120640" cy="365760"/>
          </a:xfrm>
          <a:prstGeom prst="rect">
            <a:avLst/>
          </a:prstGeom>
          <a:noFill/>
          <a:ln/>
        </p:spPr>
        <p:txBody>
          <a:bodyPr wrap="square" lIns="0" tIns="0" rIns="0" bIns="0" rtlCol="0" anchor="ctr"/>
          <a:lstStyle/>
          <a:p>
            <a:pPr indent="0" marL="0">
              <a:buNone/>
            </a:pPr>
            <a:r>
              <a:rPr lang="en-US" sz="1600" b="1" dirty="0">
                <a:solidFill>
                  <a:srgbClr val="F0E2C1"/>
                </a:solidFill>
                <a:latin typeface="Georgia" pitchFamily="34" charset="0"/>
                <a:ea typeface="Georgia" pitchFamily="34" charset="-122"/>
                <a:cs typeface="Georgia" pitchFamily="34" charset="-120"/>
              </a:rPr>
              <a:t>A fita K7 como sintoma musical</a:t>
            </a:r>
            <a:endParaRPr lang="en-US" sz="1600" dirty="0"/>
          </a:p>
        </p:txBody>
      </p:sp>
      <p:sp>
        <p:nvSpPr>
          <p:cNvPr id="15" name="Text 13"/>
          <p:cNvSpPr/>
          <p:nvPr/>
        </p:nvSpPr>
        <p:spPr>
          <a:xfrm>
            <a:off x="6537960" y="2606040"/>
            <a:ext cx="5120640" cy="2194560"/>
          </a:xfrm>
          <a:prstGeom prst="rect">
            <a:avLst/>
          </a:prstGeom>
          <a:noFill/>
          <a:ln/>
        </p:spPr>
        <p:txBody>
          <a:bodyPr wrap="square" lIns="0" tIns="0" rIns="0" bIns="0" rtlCol="0" anchor="ctr"/>
          <a:lstStyle/>
          <a:p>
            <a:pPr indent="0" marL="0">
              <a:spcAft>
                <a:spcPts val="500"/>
              </a:spcAft>
              <a:buNone/>
            </a:pPr>
            <a:r>
              <a:rPr lang="en-US" sz="1100" b="1" dirty="0">
                <a:solidFill>
                  <a:srgbClr val="F0E2C1"/>
                </a:solidFill>
                <a:latin typeface="Calibri" pitchFamily="34" charset="0"/>
                <a:ea typeface="Calibri" pitchFamily="34" charset="-122"/>
                <a:cs typeface="Calibri" pitchFamily="34" charset="-120"/>
              </a:rPr>
              <a:t xml:space="preserve">Motor do Opala </a:t>
            </a:r>
            <a:pPr indent="0" marL="0">
              <a:spcAft>
                <a:spcPts val="500"/>
              </a:spcAft>
              <a:buNone/>
            </a:pPr>
            <a:r>
              <a:rPr lang="en-US" sz="1100" dirty="0">
                <a:solidFill>
                  <a:srgbClr val="C9B68A"/>
                </a:solidFill>
                <a:latin typeface="Calibri" pitchFamily="34" charset="0"/>
                <a:ea typeface="Calibri" pitchFamily="34" charset="-122"/>
                <a:cs typeface="Calibri" pitchFamily="34" charset="-120"/>
              </a:rPr>
              <a:t>roncando em diferentes RPMs conforme cena.</a:t>
            </a:r>
            <a:endParaRPr lang="en-US" sz="1100" dirty="0"/>
          </a:p>
          <a:p>
            <a:pPr indent="0" marL="0">
              <a:spcAft>
                <a:spcPts val="500"/>
              </a:spcAft>
              <a:buNone/>
            </a:pPr>
            <a:r>
              <a:rPr lang="en-US" sz="1100" b="1" dirty="0">
                <a:solidFill>
                  <a:srgbClr val="F0E2C1"/>
                </a:solidFill>
                <a:latin typeface="Calibri" pitchFamily="34" charset="0"/>
                <a:ea typeface="Calibri" pitchFamily="34" charset="-122"/>
                <a:cs typeface="Calibri" pitchFamily="34" charset="-120"/>
              </a:rPr>
              <a:t xml:space="preserve">Timbre da Curva do Diabo: </a:t>
            </a:r>
            <a:pPr indent="0" marL="0">
              <a:spcAft>
                <a:spcPts val="500"/>
              </a:spcAft>
              <a:buNone/>
            </a:pPr>
            <a:r>
              <a:rPr lang="en-US" sz="1100" dirty="0">
                <a:solidFill>
                  <a:srgbClr val="C9B68A"/>
                </a:solidFill>
                <a:latin typeface="Calibri" pitchFamily="34" charset="0"/>
                <a:ea typeface="Calibri" pitchFamily="34" charset="-122"/>
                <a:cs typeface="Calibri" pitchFamily="34" charset="-120"/>
              </a:rPr>
              <a:t>motor engasga, baixo cai uma oitava — reconhecível antes de ver.</a:t>
            </a:r>
            <a:endParaRPr lang="en-US" sz="1100" dirty="0"/>
          </a:p>
          <a:p>
            <a:pPr indent="0" marL="0">
              <a:spcAft>
                <a:spcPts val="500"/>
              </a:spcAft>
              <a:buNone/>
            </a:pPr>
            <a:r>
              <a:rPr lang="en-US" sz="1100" b="1" dirty="0">
                <a:solidFill>
                  <a:srgbClr val="F0E2C1"/>
                </a:solidFill>
                <a:latin typeface="Calibri" pitchFamily="34" charset="0"/>
                <a:ea typeface="Calibri" pitchFamily="34" charset="-122"/>
                <a:cs typeface="Calibri" pitchFamily="34" charset="-120"/>
              </a:rPr>
              <a:t xml:space="preserve">Silêncio carregado: </a:t>
            </a:r>
            <a:pPr indent="0" marL="0">
              <a:spcAft>
                <a:spcPts val="500"/>
              </a:spcAft>
              <a:buNone/>
            </a:pPr>
            <a:r>
              <a:rPr lang="en-US" sz="1100" dirty="0">
                <a:solidFill>
                  <a:srgbClr val="C9B68A"/>
                </a:solidFill>
                <a:latin typeface="Calibri" pitchFamily="34" charset="0"/>
                <a:ea typeface="Calibri" pitchFamily="34" charset="-122"/>
                <a:cs typeface="Calibri" pitchFamily="34" charset="-120"/>
              </a:rPr>
              <a:t>cena de entrega de objeto = silêncio absoluto + respiração.</a:t>
            </a:r>
            <a:endParaRPr lang="en-US" sz="1100" dirty="0"/>
          </a:p>
          <a:p>
            <a:pPr indent="0" marL="0">
              <a:spcAft>
                <a:spcPts val="500"/>
              </a:spcAft>
              <a:buNone/>
            </a:pPr>
            <a:r>
              <a:rPr lang="en-US" sz="1100" b="1" dirty="0">
                <a:solidFill>
                  <a:srgbClr val="F0E2C1"/>
                </a:solidFill>
                <a:latin typeface="Calibri" pitchFamily="34" charset="0"/>
                <a:ea typeface="Calibri" pitchFamily="34" charset="-122"/>
                <a:cs typeface="Calibri" pitchFamily="34" charset="-120"/>
              </a:rPr>
              <a:t xml:space="preserve">Fita K7 em loop na corrida 3: </a:t>
            </a:r>
            <a:pPr indent="0" marL="0">
              <a:spcAft>
                <a:spcPts val="500"/>
              </a:spcAft>
              <a:buNone/>
            </a:pPr>
            <a:r>
              <a:rPr lang="en-US" sz="1100" dirty="0">
                <a:solidFill>
                  <a:srgbClr val="C9B68A"/>
                </a:solidFill>
                <a:latin typeface="Calibri" pitchFamily="34" charset="0"/>
                <a:ea typeface="Calibri" pitchFamily="34" charset="-122"/>
                <a:cs typeface="Calibri" pitchFamily="34" charset="-120"/>
              </a:rPr>
              <a:t>mesma faixa repetida — sintoma de fixação depressiva.</a:t>
            </a:r>
            <a:endParaRPr lang="en-US" sz="1100" dirty="0"/>
          </a:p>
        </p:txBody>
      </p:sp>
      <p:sp>
        <p:nvSpPr>
          <p:cNvPr id="16" name="Shape 14"/>
          <p:cNvSpPr/>
          <p:nvPr/>
        </p:nvSpPr>
        <p:spPr>
          <a:xfrm>
            <a:off x="6537960" y="4937760"/>
            <a:ext cx="5120640" cy="0"/>
          </a:xfrm>
          <a:prstGeom prst="line">
            <a:avLst/>
          </a:prstGeom>
          <a:noFill/>
          <a:ln w="12700">
            <a:solidFill>
              <a:srgbClr val="3F342B"/>
            </a:solidFill>
            <a:prstDash val="solid"/>
          </a:ln>
        </p:spPr>
      </p:sp>
      <p:sp>
        <p:nvSpPr>
          <p:cNvPr id="17" name="Text 15"/>
          <p:cNvSpPr/>
          <p:nvPr/>
        </p:nvSpPr>
        <p:spPr>
          <a:xfrm>
            <a:off x="6537960" y="5029200"/>
            <a:ext cx="5120640" cy="228600"/>
          </a:xfrm>
          <a:prstGeom prst="rect">
            <a:avLst/>
          </a:prstGeom>
          <a:noFill/>
          <a:ln/>
        </p:spPr>
        <p:txBody>
          <a:bodyPr wrap="square" lIns="0" tIns="0" rIns="0" bIns="0" rtlCol="0" anchor="ctr"/>
          <a:lstStyle/>
          <a:p>
            <a:pPr indent="0" marL="0">
              <a:buNone/>
            </a:pPr>
            <a:r>
              <a:rPr lang="en-US" sz="900" b="1" spc="300" kern="0" dirty="0">
                <a:solidFill>
                  <a:srgbClr val="B22222"/>
                </a:solidFill>
                <a:latin typeface="Calibri" pitchFamily="34" charset="0"/>
                <a:ea typeface="Calibri" pitchFamily="34" charset="-122"/>
                <a:cs typeface="Calibri" pitchFamily="34" charset="-120"/>
              </a:rPr>
              <a:t>DUBLAGEM</a:t>
            </a:r>
            <a:endParaRPr lang="en-US" sz="900" dirty="0"/>
          </a:p>
        </p:txBody>
      </p:sp>
      <p:sp>
        <p:nvSpPr>
          <p:cNvPr id="18" name="Text 16"/>
          <p:cNvSpPr/>
          <p:nvPr/>
        </p:nvSpPr>
        <p:spPr>
          <a:xfrm>
            <a:off x="6537960" y="5257800"/>
            <a:ext cx="5120640" cy="54864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João dublado em PT-BR, sotaque brasiliense se possível. Stretch goal: amigo + rivais + EN option.</a:t>
            </a:r>
            <a:endParaRPr lang="en-US" sz="1100" dirty="0"/>
          </a:p>
        </p:txBody>
      </p:sp>
      <p:sp>
        <p:nvSpPr>
          <p:cNvPr id="19" name="Text 17"/>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20" name="Text 18"/>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13  •  PRODUÇÃO</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MVP em 1 semana + stretch goals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2960" y="1783080"/>
          <a:ext cx="6766560" cy="914400"/>
        </p:xfrm>
        <a:graphic>
          <a:graphicData uri="http://schemas.openxmlformats.org/drawingml/2006/table">
            <a:tbl>
              <a:tblPr/>
              <a:tblGrid>
                <a:gridCol w="1371600"/>
                <a:gridCol w="2743200"/>
                <a:gridCol w="2651760"/>
              </a:tblGrid>
              <a:tr h="365760">
                <a:tc>
                  <a:txBody>
                    <a:bodyPr/>
                    <a:lstStyle/>
                    <a:p>
                      <a:pPr indent="0" marL="0">
                        <a:buNone/>
                      </a:pPr>
                      <a:r>
                        <a:rPr lang="en-US" sz="1100" b="1" dirty="0">
                          <a:solidFill>
                            <a:srgbClr val="F0E2C1"/>
                          </a:solidFill>
                        </a:rPr>
                        <a:t>Item</a:t>
                      </a:r>
                      <a:endParaRPr lang="en-US" sz="11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8B0000"/>
                    </a:solidFill>
                  </a:tcPr>
                </a:tc>
                <a:tc>
                  <a:txBody>
                    <a:bodyPr/>
                    <a:lstStyle/>
                    <a:p>
                      <a:pPr indent="0" marL="0">
                        <a:buNone/>
                      </a:pPr>
                      <a:r>
                        <a:rPr lang="en-US" sz="1100" b="1" dirty="0">
                          <a:solidFill>
                            <a:srgbClr val="F0E2C1"/>
                          </a:solidFill>
                        </a:rPr>
                        <a:t>MVP (1 semana)</a:t>
                      </a:r>
                      <a:endParaRPr lang="en-US" sz="11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8B0000"/>
                    </a:solidFill>
                  </a:tcPr>
                </a:tc>
                <a:tc>
                  <a:txBody>
                    <a:bodyPr/>
                    <a:lstStyle/>
                    <a:p>
                      <a:pPr indent="0" marL="0">
                        <a:buNone/>
                      </a:pPr>
                      <a:r>
                        <a:rPr lang="en-US" sz="1100" b="1" dirty="0">
                          <a:solidFill>
                            <a:srgbClr val="F0E2C1"/>
                          </a:solidFill>
                        </a:rPr>
                        <a:t>Stretch (2 semanas)</a:t>
                      </a:r>
                      <a:endParaRPr lang="en-US" sz="11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8B0000"/>
                    </a:solidFill>
                  </a:tcPr>
                </a:tc>
              </a:tr>
              <a:tr h="365760">
                <a:tc>
                  <a:txBody>
                    <a:bodyPr/>
                    <a:lstStyle/>
                    <a:p>
                      <a:pPr indent="0" marL="0">
                        <a:buNone/>
                      </a:pPr>
                      <a:r>
                        <a:rPr lang="en-US" sz="1000" b="1" dirty="0">
                          <a:solidFill>
                            <a:srgbClr val="F0E2C1"/>
                          </a:solidFill>
                        </a:rPr>
                        <a:t>Corridas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F0E2C1"/>
                          </a:solidFill>
                        </a:rPr>
                        <a:t>3 fixas (Lenda/Rachadura/Abismo)</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C9B68A"/>
                          </a:solidFill>
                        </a:rPr>
                        <a:t>5 corridas com ramificações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r>
              <a:tr h="365760">
                <a:tc>
                  <a:txBody>
                    <a:bodyPr/>
                    <a:lstStyle/>
                    <a:p>
                      <a:pPr indent="0" marL="0">
                        <a:buNone/>
                      </a:pPr>
                      <a:r>
                        <a:rPr lang="en-US" sz="1000" b="1" dirty="0">
                          <a:solidFill>
                            <a:srgbClr val="F0E2C1"/>
                          </a:solidFill>
                        </a:rPr>
                        <a:t>Cenas VN</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F0E2C1"/>
                          </a:solidFill>
                        </a:rPr>
                        <a:t>3 fixas (Posto/Quarto/Beira)</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C9B68A"/>
                          </a:solidFill>
                        </a:rPr>
                        <a:t>5 cenas + variações internas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r>
              <a:tr h="365760">
                <a:tc>
                  <a:txBody>
                    <a:bodyPr/>
                    <a:lstStyle/>
                    <a:p>
                      <a:pPr indent="0" marL="0">
                        <a:buNone/>
                      </a:pPr>
                      <a:r>
                        <a:rPr lang="en-US" sz="1000" b="1" dirty="0">
                          <a:solidFill>
                            <a:srgbClr val="F0E2C1"/>
                          </a:solidFill>
                        </a:rPr>
                        <a:t>Pistas ambientais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F0E2C1"/>
                          </a:solidFill>
                        </a:rPr>
                        <a:t>4 tipos, aleatorizadas por run</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C9B68A"/>
                          </a:solidFill>
                        </a:rPr>
                        <a:t>6–8 tipos (cadeira, cheiro, voz)</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r>
              <a:tr h="365760">
                <a:tc>
                  <a:txBody>
                    <a:bodyPr/>
                    <a:lstStyle/>
                    <a:p>
                      <a:pPr indent="0" marL="0">
                        <a:buNone/>
                      </a:pPr>
                      <a:r>
                        <a:rPr lang="en-US" sz="1000" b="1" dirty="0">
                          <a:solidFill>
                            <a:srgbClr val="F0E2C1"/>
                          </a:solidFill>
                        </a:rPr>
                        <a:t>Finais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F0E2C1"/>
                          </a:solidFill>
                        </a:rPr>
                        <a:t>3 (morte / intervenção / falha)</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C9B68A"/>
                          </a:solidFill>
                        </a:rPr>
                        <a:t>4 (+ secreto "ir junto")</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r>
              <a:tr h="365760">
                <a:tc>
                  <a:txBody>
                    <a:bodyPr/>
                    <a:lstStyle/>
                    <a:p>
                      <a:pPr indent="0" marL="0">
                        <a:buNone/>
                      </a:pPr>
                      <a:r>
                        <a:rPr lang="en-US" sz="1000" b="1" dirty="0">
                          <a:solidFill>
                            <a:srgbClr val="F0E2C1"/>
                          </a:solidFill>
                        </a:rPr>
                        <a:t>Trilha</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F0E2C1"/>
                          </a:solidFill>
                        </a:rPr>
                        <a:t>1 tema + 3 variações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C9B68A"/>
                          </a:solidFill>
                        </a:rPr>
                        <a:t>4–5 temas + diegese expandida</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r>
              <a:tr h="365760">
                <a:tc>
                  <a:txBody>
                    <a:bodyPr/>
                    <a:lstStyle/>
                    <a:p>
                      <a:pPr indent="0" marL="0">
                        <a:buNone/>
                      </a:pPr>
                      <a:r>
                        <a:rPr lang="en-US" sz="1000" b="1" dirty="0">
                          <a:solidFill>
                            <a:srgbClr val="F0E2C1"/>
                          </a:solidFill>
                        </a:rPr>
                        <a:t>Direção de arte</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F0E2C1"/>
                          </a:solidFill>
                        </a:rPr>
                        <a:t>7–9 ilustrações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C9B68A"/>
                          </a:solidFill>
                        </a:rPr>
                        <a:t>12–15 cenas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r>
              <a:tr h="365760">
                <a:tc>
                  <a:txBody>
                    <a:bodyPr/>
                    <a:lstStyle/>
                    <a:p>
                      <a:pPr indent="0" marL="0">
                        <a:buNone/>
                      </a:pPr>
                      <a:r>
                        <a:rPr lang="en-US" sz="1000" b="1" dirty="0">
                          <a:solidFill>
                            <a:srgbClr val="F0E2C1"/>
                          </a:solidFill>
                        </a:rPr>
                        <a:t>ConcernScore</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F0E2C1"/>
                          </a:solidFill>
                        </a:rPr>
                        <a:t>3 faixas com gating</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c>
                  <a:txBody>
                    <a:bodyPr/>
                    <a:lstStyle/>
                    <a:p>
                      <a:pPr indent="0" marL="0">
                        <a:buNone/>
                      </a:pPr>
                      <a:r>
                        <a:rPr lang="en-US" sz="1000" dirty="0">
                          <a:solidFill>
                            <a:srgbClr val="C9B68A"/>
                          </a:solidFill>
                        </a:rPr>
                        <a:t>Sistema de 5 níveis</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32A22"/>
                    </a:solidFill>
                  </a:tcPr>
                </a:tc>
              </a:tr>
              <a:tr h="365760">
                <a:tc>
                  <a:txBody>
                    <a:bodyPr/>
                    <a:lstStyle/>
                    <a:p>
                      <a:pPr indent="0" marL="0">
                        <a:buNone/>
                      </a:pPr>
                      <a:r>
                        <a:rPr lang="en-US" sz="1000" b="1" dirty="0">
                          <a:solidFill>
                            <a:srgbClr val="F0E2C1"/>
                          </a:solidFill>
                        </a:rPr>
                        <a:t>Dublagem</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F0E2C1"/>
                          </a:solidFill>
                        </a:rPr>
                        <a:t>João apenas, PT-BR</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c>
                  <a:txBody>
                    <a:bodyPr/>
                    <a:lstStyle/>
                    <a:p>
                      <a:pPr indent="0" marL="0">
                        <a:buNone/>
                      </a:pPr>
                      <a:r>
                        <a:rPr lang="en-US" sz="1000" dirty="0">
                          <a:solidFill>
                            <a:srgbClr val="C9B68A"/>
                          </a:solidFill>
                        </a:rPr>
                        <a:t>Amigo + rivais + EN option</a:t>
                      </a:r>
                      <a:endParaRPr lang="en-US" sz="1000" dirty="0"/>
                    </a:p>
                  </a:txBody>
                  <a:tcPr marL="91440" marR="91440" marT="45720" marB="45720">
                    <a:lnL w="6350" cap="flat" cmpd="sng" algn="ctr">
                      <a:solidFill>
                        <a:srgbClr val="2A221B"/>
                      </a:solidFill>
                      <a:prstDash val="solid"/>
                      <a:round/>
                      <a:headEnd type="none" w="med" len="med"/>
                      <a:tailEnd type="none" w="med" len="med"/>
                    </a:lnL>
                    <a:lnR w="6350" cap="flat" cmpd="sng" algn="ctr">
                      <a:solidFill>
                        <a:srgbClr val="2A221B"/>
                      </a:solidFill>
                      <a:prstDash val="solid"/>
                      <a:round/>
                      <a:headEnd type="none" w="med" len="med"/>
                      <a:tailEnd type="none" w="med" len="med"/>
                    </a:lnR>
                    <a:lnT w="6350" cap="flat" cmpd="sng" algn="ctr">
                      <a:solidFill>
                        <a:srgbClr val="2A221B"/>
                      </a:solidFill>
                      <a:prstDash val="solid"/>
                      <a:round/>
                      <a:headEnd type="none" w="med" len="med"/>
                      <a:tailEnd type="none" w="med" len="med"/>
                    </a:lnT>
                    <a:lnB w="6350" cap="flat" cmpd="sng" algn="ctr">
                      <a:solidFill>
                        <a:srgbClr val="2A221B"/>
                      </a:solidFill>
                      <a:prstDash val="solid"/>
                      <a:round/>
                      <a:headEnd type="none" w="med" len="med"/>
                      <a:tailEnd type="none" w="med" len="med"/>
                    </a:lnB>
                    <a:solidFill>
                      <a:srgbClr val="3F342B"/>
                    </a:solidFill>
                  </a:tcPr>
                </a:tc>
              </a:tr>
            </a:tbl>
          </a:graphicData>
        </a:graphic>
      </p:graphicFrame>
      <p:sp>
        <p:nvSpPr>
          <p:cNvPr id="6" name="Text 3"/>
          <p:cNvSpPr/>
          <p:nvPr/>
        </p:nvSpPr>
        <p:spPr>
          <a:xfrm>
            <a:off x="7818120" y="1783080"/>
            <a:ext cx="411480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DIA-A-DIA (7 DIAS)</a:t>
            </a:r>
            <a:endParaRPr lang="en-US" sz="1000" dirty="0"/>
          </a:p>
        </p:txBody>
      </p:sp>
      <p:sp>
        <p:nvSpPr>
          <p:cNvPr id="7" name="Shape 4"/>
          <p:cNvSpPr/>
          <p:nvPr/>
        </p:nvSpPr>
        <p:spPr>
          <a:xfrm>
            <a:off x="7818120" y="2103120"/>
            <a:ext cx="4114800" cy="502920"/>
          </a:xfrm>
          <a:prstGeom prst="rect">
            <a:avLst/>
          </a:prstGeom>
          <a:solidFill>
            <a:srgbClr val="332A22"/>
          </a:solidFill>
          <a:ln w="12700">
            <a:solidFill>
              <a:srgbClr val="2A221B"/>
            </a:solidFill>
            <a:prstDash val="solid"/>
          </a:ln>
        </p:spPr>
      </p:sp>
      <p:sp>
        <p:nvSpPr>
          <p:cNvPr id="8" name="Shape 5"/>
          <p:cNvSpPr/>
          <p:nvPr/>
        </p:nvSpPr>
        <p:spPr>
          <a:xfrm>
            <a:off x="7818120" y="2103120"/>
            <a:ext cx="548640" cy="502920"/>
          </a:xfrm>
          <a:prstGeom prst="rect">
            <a:avLst/>
          </a:prstGeom>
          <a:solidFill>
            <a:srgbClr val="8B0000"/>
          </a:solidFill>
          <a:ln w="12700">
            <a:solidFill>
              <a:srgbClr val="8B0000"/>
            </a:solidFill>
            <a:prstDash val="solid"/>
          </a:ln>
        </p:spPr>
      </p:sp>
      <p:sp>
        <p:nvSpPr>
          <p:cNvPr id="9" name="Text 6"/>
          <p:cNvSpPr/>
          <p:nvPr/>
        </p:nvSpPr>
        <p:spPr>
          <a:xfrm>
            <a:off x="7818120" y="2194560"/>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D1</a:t>
            </a:r>
            <a:endParaRPr lang="en-US" sz="1600" dirty="0"/>
          </a:p>
        </p:txBody>
      </p:sp>
      <p:sp>
        <p:nvSpPr>
          <p:cNvPr id="10" name="Text 7"/>
          <p:cNvSpPr/>
          <p:nvPr/>
        </p:nvSpPr>
        <p:spPr>
          <a:xfrm>
            <a:off x="8458200" y="2148840"/>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Setup MZ + protótipo do loop + ConcernScore</a:t>
            </a:r>
            <a:endParaRPr lang="en-US" sz="1100" dirty="0"/>
          </a:p>
        </p:txBody>
      </p:sp>
      <p:sp>
        <p:nvSpPr>
          <p:cNvPr id="11" name="Shape 8"/>
          <p:cNvSpPr/>
          <p:nvPr/>
        </p:nvSpPr>
        <p:spPr>
          <a:xfrm>
            <a:off x="7818120" y="2670048"/>
            <a:ext cx="4114800" cy="502920"/>
          </a:xfrm>
          <a:prstGeom prst="rect">
            <a:avLst/>
          </a:prstGeom>
          <a:solidFill>
            <a:srgbClr val="332A22"/>
          </a:solidFill>
          <a:ln w="12700">
            <a:solidFill>
              <a:srgbClr val="2A221B"/>
            </a:solidFill>
            <a:prstDash val="solid"/>
          </a:ln>
        </p:spPr>
      </p:sp>
      <p:sp>
        <p:nvSpPr>
          <p:cNvPr id="12" name="Shape 9"/>
          <p:cNvSpPr/>
          <p:nvPr/>
        </p:nvSpPr>
        <p:spPr>
          <a:xfrm>
            <a:off x="7818120" y="2670048"/>
            <a:ext cx="548640" cy="502920"/>
          </a:xfrm>
          <a:prstGeom prst="rect">
            <a:avLst/>
          </a:prstGeom>
          <a:solidFill>
            <a:srgbClr val="8B0000"/>
          </a:solidFill>
          <a:ln w="12700">
            <a:solidFill>
              <a:srgbClr val="8B0000"/>
            </a:solidFill>
            <a:prstDash val="solid"/>
          </a:ln>
        </p:spPr>
      </p:sp>
      <p:sp>
        <p:nvSpPr>
          <p:cNvPr id="13" name="Text 10"/>
          <p:cNvSpPr/>
          <p:nvPr/>
        </p:nvSpPr>
        <p:spPr>
          <a:xfrm>
            <a:off x="7818120" y="2761488"/>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D2</a:t>
            </a:r>
            <a:endParaRPr lang="en-US" sz="1600" dirty="0"/>
          </a:p>
        </p:txBody>
      </p:sp>
      <p:sp>
        <p:nvSpPr>
          <p:cNvPr id="14" name="Text 11"/>
          <p:cNvSpPr/>
          <p:nvPr/>
        </p:nvSpPr>
        <p:spPr>
          <a:xfrm>
            <a:off x="8458200" y="2715768"/>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VN1 (Posto) + Corrida 1 (Lenda)</a:t>
            </a:r>
            <a:endParaRPr lang="en-US" sz="1100" dirty="0"/>
          </a:p>
        </p:txBody>
      </p:sp>
      <p:sp>
        <p:nvSpPr>
          <p:cNvPr id="15" name="Shape 12"/>
          <p:cNvSpPr/>
          <p:nvPr/>
        </p:nvSpPr>
        <p:spPr>
          <a:xfrm>
            <a:off x="7818120" y="3236976"/>
            <a:ext cx="4114800" cy="502920"/>
          </a:xfrm>
          <a:prstGeom prst="rect">
            <a:avLst/>
          </a:prstGeom>
          <a:solidFill>
            <a:srgbClr val="332A22"/>
          </a:solidFill>
          <a:ln w="12700">
            <a:solidFill>
              <a:srgbClr val="2A221B"/>
            </a:solidFill>
            <a:prstDash val="solid"/>
          </a:ln>
        </p:spPr>
      </p:sp>
      <p:sp>
        <p:nvSpPr>
          <p:cNvPr id="16" name="Shape 13"/>
          <p:cNvSpPr/>
          <p:nvPr/>
        </p:nvSpPr>
        <p:spPr>
          <a:xfrm>
            <a:off x="7818120" y="3236976"/>
            <a:ext cx="548640" cy="502920"/>
          </a:xfrm>
          <a:prstGeom prst="rect">
            <a:avLst/>
          </a:prstGeom>
          <a:solidFill>
            <a:srgbClr val="8B0000"/>
          </a:solidFill>
          <a:ln w="12700">
            <a:solidFill>
              <a:srgbClr val="8B0000"/>
            </a:solidFill>
            <a:prstDash val="solid"/>
          </a:ln>
        </p:spPr>
      </p:sp>
      <p:sp>
        <p:nvSpPr>
          <p:cNvPr id="17" name="Text 14"/>
          <p:cNvSpPr/>
          <p:nvPr/>
        </p:nvSpPr>
        <p:spPr>
          <a:xfrm>
            <a:off x="7818120" y="3328416"/>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D3</a:t>
            </a:r>
            <a:endParaRPr lang="en-US" sz="1600" dirty="0"/>
          </a:p>
        </p:txBody>
      </p:sp>
      <p:sp>
        <p:nvSpPr>
          <p:cNvPr id="18" name="Text 15"/>
          <p:cNvSpPr/>
          <p:nvPr/>
        </p:nvSpPr>
        <p:spPr>
          <a:xfrm>
            <a:off x="8458200" y="3282696"/>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VN2 (Quarto) + Corrida 2 (Rachadura)</a:t>
            </a:r>
            <a:endParaRPr lang="en-US" sz="1100" dirty="0"/>
          </a:p>
        </p:txBody>
      </p:sp>
      <p:sp>
        <p:nvSpPr>
          <p:cNvPr id="19" name="Shape 16"/>
          <p:cNvSpPr/>
          <p:nvPr/>
        </p:nvSpPr>
        <p:spPr>
          <a:xfrm>
            <a:off x="7818120" y="3803904"/>
            <a:ext cx="4114800" cy="502920"/>
          </a:xfrm>
          <a:prstGeom prst="rect">
            <a:avLst/>
          </a:prstGeom>
          <a:solidFill>
            <a:srgbClr val="332A22"/>
          </a:solidFill>
          <a:ln w="12700">
            <a:solidFill>
              <a:srgbClr val="2A221B"/>
            </a:solidFill>
            <a:prstDash val="solid"/>
          </a:ln>
        </p:spPr>
      </p:sp>
      <p:sp>
        <p:nvSpPr>
          <p:cNvPr id="20" name="Shape 17"/>
          <p:cNvSpPr/>
          <p:nvPr/>
        </p:nvSpPr>
        <p:spPr>
          <a:xfrm>
            <a:off x="7818120" y="3803904"/>
            <a:ext cx="548640" cy="502920"/>
          </a:xfrm>
          <a:prstGeom prst="rect">
            <a:avLst/>
          </a:prstGeom>
          <a:solidFill>
            <a:srgbClr val="8B0000"/>
          </a:solidFill>
          <a:ln w="12700">
            <a:solidFill>
              <a:srgbClr val="8B0000"/>
            </a:solidFill>
            <a:prstDash val="solid"/>
          </a:ln>
        </p:spPr>
      </p:sp>
      <p:sp>
        <p:nvSpPr>
          <p:cNvPr id="21" name="Text 18"/>
          <p:cNvSpPr/>
          <p:nvPr/>
        </p:nvSpPr>
        <p:spPr>
          <a:xfrm>
            <a:off x="7818120" y="3895344"/>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D4</a:t>
            </a:r>
            <a:endParaRPr lang="en-US" sz="1600" dirty="0"/>
          </a:p>
        </p:txBody>
      </p:sp>
      <p:sp>
        <p:nvSpPr>
          <p:cNvPr id="22" name="Text 19"/>
          <p:cNvSpPr/>
          <p:nvPr/>
        </p:nvSpPr>
        <p:spPr>
          <a:xfrm>
            <a:off x="8458200" y="3849624"/>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VN3 (Beira) + Corrida 3 (Abismo) + sabotar</a:t>
            </a:r>
            <a:endParaRPr lang="en-US" sz="1100" dirty="0"/>
          </a:p>
        </p:txBody>
      </p:sp>
      <p:sp>
        <p:nvSpPr>
          <p:cNvPr id="23" name="Shape 20"/>
          <p:cNvSpPr/>
          <p:nvPr/>
        </p:nvSpPr>
        <p:spPr>
          <a:xfrm>
            <a:off x="7818120" y="4370832"/>
            <a:ext cx="4114800" cy="502920"/>
          </a:xfrm>
          <a:prstGeom prst="rect">
            <a:avLst/>
          </a:prstGeom>
          <a:solidFill>
            <a:srgbClr val="332A22"/>
          </a:solidFill>
          <a:ln w="12700">
            <a:solidFill>
              <a:srgbClr val="2A221B"/>
            </a:solidFill>
            <a:prstDash val="solid"/>
          </a:ln>
        </p:spPr>
      </p:sp>
      <p:sp>
        <p:nvSpPr>
          <p:cNvPr id="24" name="Shape 21"/>
          <p:cNvSpPr/>
          <p:nvPr/>
        </p:nvSpPr>
        <p:spPr>
          <a:xfrm>
            <a:off x="7818120" y="4370832"/>
            <a:ext cx="548640" cy="502920"/>
          </a:xfrm>
          <a:prstGeom prst="rect">
            <a:avLst/>
          </a:prstGeom>
          <a:solidFill>
            <a:srgbClr val="8B0000"/>
          </a:solidFill>
          <a:ln w="12700">
            <a:solidFill>
              <a:srgbClr val="8B0000"/>
            </a:solidFill>
            <a:prstDash val="solid"/>
          </a:ln>
        </p:spPr>
      </p:sp>
      <p:sp>
        <p:nvSpPr>
          <p:cNvPr id="25" name="Text 22"/>
          <p:cNvSpPr/>
          <p:nvPr/>
        </p:nvSpPr>
        <p:spPr>
          <a:xfrm>
            <a:off x="7818120" y="4462272"/>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D5</a:t>
            </a:r>
            <a:endParaRPr lang="en-US" sz="1600" dirty="0"/>
          </a:p>
        </p:txBody>
      </p:sp>
      <p:sp>
        <p:nvSpPr>
          <p:cNvPr id="26" name="Text 23"/>
          <p:cNvSpPr/>
          <p:nvPr/>
        </p:nvSpPr>
        <p:spPr>
          <a:xfrm>
            <a:off x="8458200" y="4416552"/>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3 finais + flags + vinhetas em cordel</a:t>
            </a:r>
            <a:endParaRPr lang="en-US" sz="1100" dirty="0"/>
          </a:p>
        </p:txBody>
      </p:sp>
      <p:sp>
        <p:nvSpPr>
          <p:cNvPr id="27" name="Shape 24"/>
          <p:cNvSpPr/>
          <p:nvPr/>
        </p:nvSpPr>
        <p:spPr>
          <a:xfrm>
            <a:off x="7818120" y="4937760"/>
            <a:ext cx="4114800" cy="502920"/>
          </a:xfrm>
          <a:prstGeom prst="rect">
            <a:avLst/>
          </a:prstGeom>
          <a:solidFill>
            <a:srgbClr val="332A22"/>
          </a:solidFill>
          <a:ln w="12700">
            <a:solidFill>
              <a:srgbClr val="2A221B"/>
            </a:solidFill>
            <a:prstDash val="solid"/>
          </a:ln>
        </p:spPr>
      </p:sp>
      <p:sp>
        <p:nvSpPr>
          <p:cNvPr id="28" name="Shape 25"/>
          <p:cNvSpPr/>
          <p:nvPr/>
        </p:nvSpPr>
        <p:spPr>
          <a:xfrm>
            <a:off x="7818120" y="4937760"/>
            <a:ext cx="548640" cy="502920"/>
          </a:xfrm>
          <a:prstGeom prst="rect">
            <a:avLst/>
          </a:prstGeom>
          <a:solidFill>
            <a:srgbClr val="8B0000"/>
          </a:solidFill>
          <a:ln w="12700">
            <a:solidFill>
              <a:srgbClr val="8B0000"/>
            </a:solidFill>
            <a:prstDash val="solid"/>
          </a:ln>
        </p:spPr>
      </p:sp>
      <p:sp>
        <p:nvSpPr>
          <p:cNvPr id="29" name="Text 26"/>
          <p:cNvSpPr/>
          <p:nvPr/>
        </p:nvSpPr>
        <p:spPr>
          <a:xfrm>
            <a:off x="7818120" y="5029200"/>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D6</a:t>
            </a:r>
            <a:endParaRPr lang="en-US" sz="1600" dirty="0"/>
          </a:p>
        </p:txBody>
      </p:sp>
      <p:sp>
        <p:nvSpPr>
          <p:cNvPr id="30" name="Text 27"/>
          <p:cNvSpPr/>
          <p:nvPr/>
        </p:nvSpPr>
        <p:spPr>
          <a:xfrm>
            <a:off x="8458200" y="4983480"/>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Trilha pós-punk + fita K7 + arte final</a:t>
            </a:r>
            <a:endParaRPr lang="en-US" sz="1100" dirty="0"/>
          </a:p>
        </p:txBody>
      </p:sp>
      <p:sp>
        <p:nvSpPr>
          <p:cNvPr id="31" name="Shape 28"/>
          <p:cNvSpPr/>
          <p:nvPr/>
        </p:nvSpPr>
        <p:spPr>
          <a:xfrm>
            <a:off x="7818120" y="5504688"/>
            <a:ext cx="4114800" cy="502920"/>
          </a:xfrm>
          <a:prstGeom prst="rect">
            <a:avLst/>
          </a:prstGeom>
          <a:solidFill>
            <a:srgbClr val="332A22"/>
          </a:solidFill>
          <a:ln w="12700">
            <a:solidFill>
              <a:srgbClr val="2A221B"/>
            </a:solidFill>
            <a:prstDash val="solid"/>
          </a:ln>
        </p:spPr>
      </p:sp>
      <p:sp>
        <p:nvSpPr>
          <p:cNvPr id="32" name="Shape 29"/>
          <p:cNvSpPr/>
          <p:nvPr/>
        </p:nvSpPr>
        <p:spPr>
          <a:xfrm>
            <a:off x="7818120" y="5504688"/>
            <a:ext cx="548640" cy="502920"/>
          </a:xfrm>
          <a:prstGeom prst="rect">
            <a:avLst/>
          </a:prstGeom>
          <a:solidFill>
            <a:srgbClr val="8B0000"/>
          </a:solidFill>
          <a:ln w="12700">
            <a:solidFill>
              <a:srgbClr val="8B0000"/>
            </a:solidFill>
            <a:prstDash val="solid"/>
          </a:ln>
        </p:spPr>
      </p:sp>
      <p:sp>
        <p:nvSpPr>
          <p:cNvPr id="33" name="Text 30"/>
          <p:cNvSpPr/>
          <p:nvPr/>
        </p:nvSpPr>
        <p:spPr>
          <a:xfrm>
            <a:off x="7818120" y="5596128"/>
            <a:ext cx="548640" cy="320040"/>
          </a:xfrm>
          <a:prstGeom prst="rect">
            <a:avLst/>
          </a:prstGeom>
          <a:noFill/>
          <a:ln/>
        </p:spPr>
        <p:txBody>
          <a:bodyPr wrap="square" lIns="0" tIns="0" rIns="0" bIns="0" rtlCol="0" anchor="ctr"/>
          <a:lstStyle/>
          <a:p>
            <a:pPr algn="ctr" indent="0" marL="0">
              <a:buNone/>
            </a:pPr>
            <a:r>
              <a:rPr lang="en-US" sz="1600" b="1" dirty="0">
                <a:solidFill>
                  <a:srgbClr val="F0E2C1"/>
                </a:solidFill>
                <a:latin typeface="Georgia" pitchFamily="34" charset="0"/>
                <a:ea typeface="Georgia" pitchFamily="34" charset="-122"/>
                <a:cs typeface="Georgia" pitchFamily="34" charset="-120"/>
              </a:rPr>
              <a:t>D7</a:t>
            </a:r>
            <a:endParaRPr lang="en-US" sz="1600" dirty="0"/>
          </a:p>
        </p:txBody>
      </p:sp>
      <p:sp>
        <p:nvSpPr>
          <p:cNvPr id="34" name="Text 31"/>
          <p:cNvSpPr/>
          <p:nvPr/>
        </p:nvSpPr>
        <p:spPr>
          <a:xfrm>
            <a:off x="8458200" y="5550408"/>
            <a:ext cx="3383280" cy="411480"/>
          </a:xfrm>
          <a:prstGeom prst="rect">
            <a:avLst/>
          </a:prstGeom>
          <a:noFill/>
          <a:ln/>
        </p:spPr>
        <p:txBody>
          <a:bodyPr wrap="square" lIns="0" tIns="0" rIns="0" bIns="0" rtlCol="0" anchor="ctr"/>
          <a:lstStyle/>
          <a:p>
            <a:pPr indent="0" marL="0">
              <a:buNone/>
            </a:pPr>
            <a:r>
              <a:rPr lang="en-US" sz="1100" dirty="0">
                <a:solidFill>
                  <a:srgbClr val="F0E2C1"/>
                </a:solidFill>
                <a:latin typeface="Calibri" pitchFamily="34" charset="0"/>
                <a:ea typeface="Calibri" pitchFamily="34" charset="-122"/>
                <a:cs typeface="Calibri" pitchFamily="34" charset="-120"/>
              </a:rPr>
              <a:t>Polish + vídeo de gameplay + trigger warning</a:t>
            </a:r>
            <a:endParaRPr lang="en-US" sz="1100" dirty="0"/>
          </a:p>
        </p:txBody>
      </p:sp>
      <p:sp>
        <p:nvSpPr>
          <p:cNvPr id="35" name="Text 32"/>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36" name="Text 33"/>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14  •  RISCOS</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Os quatro riscos quentes e como os mitigamos</a:t>
            </a:r>
            <a:endParaRPr lang="en-US" sz="3400" dirty="0"/>
          </a:p>
        </p:txBody>
      </p:sp>
      <p:sp>
        <p:nvSpPr>
          <p:cNvPr id="5" name="Shape 3"/>
          <p:cNvSpPr/>
          <p:nvPr/>
        </p:nvSpPr>
        <p:spPr>
          <a:xfrm>
            <a:off x="822960" y="1783080"/>
            <a:ext cx="5349240" cy="1965960"/>
          </a:xfrm>
          <a:prstGeom prst="rect">
            <a:avLst/>
          </a:prstGeom>
          <a:solidFill>
            <a:srgbClr val="332A22"/>
          </a:solidFill>
          <a:ln w="12700">
            <a:solidFill>
              <a:srgbClr val="2A221B"/>
            </a:solidFill>
            <a:prstDash val="solid"/>
          </a:ln>
        </p:spPr>
      </p:sp>
      <p:sp>
        <p:nvSpPr>
          <p:cNvPr id="6" name="Shape 4"/>
          <p:cNvSpPr/>
          <p:nvPr/>
        </p:nvSpPr>
        <p:spPr>
          <a:xfrm>
            <a:off x="822960" y="1783080"/>
            <a:ext cx="91440" cy="1965960"/>
          </a:xfrm>
          <a:prstGeom prst="rect">
            <a:avLst/>
          </a:prstGeom>
          <a:solidFill>
            <a:srgbClr val="8B0000"/>
          </a:solidFill>
          <a:ln w="12700">
            <a:solidFill>
              <a:srgbClr val="8B0000"/>
            </a:solidFill>
            <a:prstDash val="solid"/>
          </a:ln>
        </p:spPr>
      </p:sp>
      <p:sp>
        <p:nvSpPr>
          <p:cNvPr id="7" name="Text 5"/>
          <p:cNvSpPr/>
          <p:nvPr/>
        </p:nvSpPr>
        <p:spPr>
          <a:xfrm>
            <a:off x="1051560" y="1874520"/>
            <a:ext cx="489204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RISCO ALTO</a:t>
            </a:r>
            <a:endParaRPr lang="en-US" sz="900" dirty="0"/>
          </a:p>
        </p:txBody>
      </p:sp>
      <p:sp>
        <p:nvSpPr>
          <p:cNvPr id="8" name="Text 6"/>
          <p:cNvSpPr/>
          <p:nvPr/>
        </p:nvSpPr>
        <p:spPr>
          <a:xfrm>
            <a:off x="1051560" y="2130552"/>
            <a:ext cx="4892040" cy="411480"/>
          </a:xfrm>
          <a:prstGeom prst="rect">
            <a:avLst/>
          </a:prstGeom>
          <a:noFill/>
          <a:ln/>
        </p:spPr>
        <p:txBody>
          <a:bodyPr wrap="square" lIns="0" tIns="0" rIns="0" bIns="0" rtlCol="0" anchor="ctr"/>
          <a:lstStyle/>
          <a:p>
            <a:pPr indent="0" marL="0">
              <a:buNone/>
            </a:pPr>
            <a:r>
              <a:rPr lang="en-US" sz="1700" b="1" dirty="0">
                <a:solidFill>
                  <a:srgbClr val="F0E2C1"/>
                </a:solidFill>
                <a:latin typeface="Georgia" pitchFamily="34" charset="0"/>
                <a:ea typeface="Georgia" pitchFamily="34" charset="-122"/>
                <a:cs typeface="Georgia" pitchFamily="34" charset="-120"/>
              </a:rPr>
              <a:t>IP / Copyright Legião Urbana</a:t>
            </a:r>
            <a:endParaRPr lang="en-US" sz="1700" dirty="0"/>
          </a:p>
        </p:txBody>
      </p:sp>
      <p:sp>
        <p:nvSpPr>
          <p:cNvPr id="9" name="Text 7"/>
          <p:cNvSpPr/>
          <p:nvPr/>
        </p:nvSpPr>
        <p:spPr>
          <a:xfrm>
            <a:off x="1051560" y="2560320"/>
            <a:ext cx="4892040" cy="114300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João, Opala azul, Curva do Diabo = uso transformative. Compor música original, NÃO usar letra/gravação. Creditar "inspirado em". Consultar revisor da jam antes do D1.</a:t>
            </a:r>
            <a:endParaRPr lang="en-US" sz="1100" dirty="0"/>
          </a:p>
        </p:txBody>
      </p:sp>
      <p:sp>
        <p:nvSpPr>
          <p:cNvPr id="10" name="Shape 8"/>
          <p:cNvSpPr/>
          <p:nvPr/>
        </p:nvSpPr>
        <p:spPr>
          <a:xfrm>
            <a:off x="6355080" y="1783080"/>
            <a:ext cx="5349240" cy="1965960"/>
          </a:xfrm>
          <a:prstGeom prst="rect">
            <a:avLst/>
          </a:prstGeom>
          <a:solidFill>
            <a:srgbClr val="332A22"/>
          </a:solidFill>
          <a:ln w="12700">
            <a:solidFill>
              <a:srgbClr val="2A221B"/>
            </a:solidFill>
            <a:prstDash val="solid"/>
          </a:ln>
        </p:spPr>
      </p:sp>
      <p:sp>
        <p:nvSpPr>
          <p:cNvPr id="11" name="Shape 9"/>
          <p:cNvSpPr/>
          <p:nvPr/>
        </p:nvSpPr>
        <p:spPr>
          <a:xfrm>
            <a:off x="6355080" y="1783080"/>
            <a:ext cx="91440" cy="1965960"/>
          </a:xfrm>
          <a:prstGeom prst="rect">
            <a:avLst/>
          </a:prstGeom>
          <a:solidFill>
            <a:srgbClr val="8B0000"/>
          </a:solidFill>
          <a:ln w="12700">
            <a:solidFill>
              <a:srgbClr val="8B0000"/>
            </a:solidFill>
            <a:prstDash val="solid"/>
          </a:ln>
        </p:spPr>
      </p:sp>
      <p:sp>
        <p:nvSpPr>
          <p:cNvPr id="12" name="Text 10"/>
          <p:cNvSpPr/>
          <p:nvPr/>
        </p:nvSpPr>
        <p:spPr>
          <a:xfrm>
            <a:off x="6583680" y="1874520"/>
            <a:ext cx="489204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RISCO ALTO</a:t>
            </a:r>
            <a:endParaRPr lang="en-US" sz="900" dirty="0"/>
          </a:p>
        </p:txBody>
      </p:sp>
      <p:sp>
        <p:nvSpPr>
          <p:cNvPr id="13" name="Text 11"/>
          <p:cNvSpPr/>
          <p:nvPr/>
        </p:nvSpPr>
        <p:spPr>
          <a:xfrm>
            <a:off x="6583680" y="2130552"/>
            <a:ext cx="4892040" cy="411480"/>
          </a:xfrm>
          <a:prstGeom prst="rect">
            <a:avLst/>
          </a:prstGeom>
          <a:noFill/>
          <a:ln/>
        </p:spPr>
        <p:txBody>
          <a:bodyPr wrap="square" lIns="0" tIns="0" rIns="0" bIns="0" rtlCol="0" anchor="ctr"/>
          <a:lstStyle/>
          <a:p>
            <a:pPr indent="0" marL="0">
              <a:buNone/>
            </a:pPr>
            <a:r>
              <a:rPr lang="en-US" sz="1700" b="1" dirty="0">
                <a:solidFill>
                  <a:srgbClr val="F0E2C1"/>
                </a:solidFill>
                <a:latin typeface="Georgia" pitchFamily="34" charset="0"/>
                <a:ea typeface="Georgia" pitchFamily="34" charset="-122"/>
                <a:cs typeface="Georgia" pitchFamily="34" charset="-120"/>
              </a:rPr>
              <a:t>Glamorização de suicídio adolescente</a:t>
            </a:r>
            <a:endParaRPr lang="en-US" sz="1700" dirty="0"/>
          </a:p>
        </p:txBody>
      </p:sp>
      <p:sp>
        <p:nvSpPr>
          <p:cNvPr id="14" name="Text 12"/>
          <p:cNvSpPr/>
          <p:nvPr/>
        </p:nvSpPr>
        <p:spPr>
          <a:xfrm>
            <a:off x="6583680" y="2560320"/>
            <a:ext cx="4892040" cy="114300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Tom explicitamente trágico. Final principal = morte. Trigger warning na tela inicial com CVV 188. Recurso de saúde mental acessível pelo menu durante todo o jogo.</a:t>
            </a:r>
            <a:endParaRPr lang="en-US" sz="1100" dirty="0"/>
          </a:p>
        </p:txBody>
      </p:sp>
      <p:sp>
        <p:nvSpPr>
          <p:cNvPr id="15" name="Shape 13"/>
          <p:cNvSpPr/>
          <p:nvPr/>
        </p:nvSpPr>
        <p:spPr>
          <a:xfrm>
            <a:off x="822960" y="3931920"/>
            <a:ext cx="5349240" cy="1965960"/>
          </a:xfrm>
          <a:prstGeom prst="rect">
            <a:avLst/>
          </a:prstGeom>
          <a:solidFill>
            <a:srgbClr val="332A22"/>
          </a:solidFill>
          <a:ln w="12700">
            <a:solidFill>
              <a:srgbClr val="2A221B"/>
            </a:solidFill>
            <a:prstDash val="solid"/>
          </a:ln>
        </p:spPr>
      </p:sp>
      <p:sp>
        <p:nvSpPr>
          <p:cNvPr id="16" name="Shape 14"/>
          <p:cNvSpPr/>
          <p:nvPr/>
        </p:nvSpPr>
        <p:spPr>
          <a:xfrm>
            <a:off x="822960" y="3931920"/>
            <a:ext cx="91440" cy="1965960"/>
          </a:xfrm>
          <a:prstGeom prst="rect">
            <a:avLst/>
          </a:prstGeom>
          <a:solidFill>
            <a:srgbClr val="8B0000"/>
          </a:solidFill>
          <a:ln w="12700">
            <a:solidFill>
              <a:srgbClr val="8B0000"/>
            </a:solidFill>
            <a:prstDash val="solid"/>
          </a:ln>
        </p:spPr>
      </p:sp>
      <p:sp>
        <p:nvSpPr>
          <p:cNvPr id="17" name="Text 15"/>
          <p:cNvSpPr/>
          <p:nvPr/>
        </p:nvSpPr>
        <p:spPr>
          <a:xfrm>
            <a:off x="1051560" y="4023360"/>
            <a:ext cx="489204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RISCO ALTO</a:t>
            </a:r>
            <a:endParaRPr lang="en-US" sz="900" dirty="0"/>
          </a:p>
        </p:txBody>
      </p:sp>
      <p:sp>
        <p:nvSpPr>
          <p:cNvPr id="18" name="Text 16"/>
          <p:cNvSpPr/>
          <p:nvPr/>
        </p:nvSpPr>
        <p:spPr>
          <a:xfrm>
            <a:off x="1051560" y="4279392"/>
            <a:ext cx="4892040" cy="411480"/>
          </a:xfrm>
          <a:prstGeom prst="rect">
            <a:avLst/>
          </a:prstGeom>
          <a:noFill/>
          <a:ln/>
        </p:spPr>
        <p:txBody>
          <a:bodyPr wrap="square" lIns="0" tIns="0" rIns="0" bIns="0" rtlCol="0" anchor="ctr"/>
          <a:lstStyle/>
          <a:p>
            <a:pPr indent="0" marL="0">
              <a:buNone/>
            </a:pPr>
            <a:r>
              <a:rPr lang="en-US" sz="1700" b="1" dirty="0">
                <a:solidFill>
                  <a:srgbClr val="F0E2C1"/>
                </a:solidFill>
                <a:latin typeface="Georgia" pitchFamily="34" charset="0"/>
                <a:ea typeface="Georgia" pitchFamily="34" charset="-122"/>
                <a:cs typeface="Georgia" pitchFamily="34" charset="-120"/>
              </a:rPr>
              <a:t>"Cura mágica" da depressão</a:t>
            </a:r>
            <a:endParaRPr lang="en-US" sz="1700" dirty="0"/>
          </a:p>
        </p:txBody>
      </p:sp>
      <p:sp>
        <p:nvSpPr>
          <p:cNvPr id="19" name="Text 17"/>
          <p:cNvSpPr/>
          <p:nvPr/>
        </p:nvSpPr>
        <p:spPr>
          <a:xfrm>
            <a:off x="1051560" y="4709160"/>
            <a:ext cx="4892040" cy="114300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Epílogo do Final 2 é curto, ambíguo, sem agradecimento completo. João não diz "estou curado". A amizade fica machucada. Consultar profissional de saúde mental antes do D1.</a:t>
            </a:r>
            <a:endParaRPr lang="en-US" sz="1100" dirty="0"/>
          </a:p>
        </p:txBody>
      </p:sp>
      <p:sp>
        <p:nvSpPr>
          <p:cNvPr id="20" name="Shape 18"/>
          <p:cNvSpPr/>
          <p:nvPr/>
        </p:nvSpPr>
        <p:spPr>
          <a:xfrm>
            <a:off x="6355080" y="3931920"/>
            <a:ext cx="5349240" cy="1965960"/>
          </a:xfrm>
          <a:prstGeom prst="rect">
            <a:avLst/>
          </a:prstGeom>
          <a:solidFill>
            <a:srgbClr val="332A22"/>
          </a:solidFill>
          <a:ln w="12700">
            <a:solidFill>
              <a:srgbClr val="2A221B"/>
            </a:solidFill>
            <a:prstDash val="solid"/>
          </a:ln>
        </p:spPr>
      </p:sp>
      <p:sp>
        <p:nvSpPr>
          <p:cNvPr id="21" name="Shape 19"/>
          <p:cNvSpPr/>
          <p:nvPr/>
        </p:nvSpPr>
        <p:spPr>
          <a:xfrm>
            <a:off x="6355080" y="3931920"/>
            <a:ext cx="91440" cy="1965960"/>
          </a:xfrm>
          <a:prstGeom prst="rect">
            <a:avLst/>
          </a:prstGeom>
          <a:solidFill>
            <a:srgbClr val="8B0000"/>
          </a:solidFill>
          <a:ln w="12700">
            <a:solidFill>
              <a:srgbClr val="8B0000"/>
            </a:solidFill>
            <a:prstDash val="solid"/>
          </a:ln>
        </p:spPr>
      </p:sp>
      <p:sp>
        <p:nvSpPr>
          <p:cNvPr id="22" name="Text 20"/>
          <p:cNvSpPr/>
          <p:nvPr/>
        </p:nvSpPr>
        <p:spPr>
          <a:xfrm>
            <a:off x="6583680" y="4023360"/>
            <a:ext cx="4892040" cy="228600"/>
          </a:xfrm>
          <a:prstGeom prst="rect">
            <a:avLst/>
          </a:prstGeom>
          <a:noFill/>
          <a:ln/>
        </p:spPr>
        <p:txBody>
          <a:bodyPr wrap="square" lIns="0" tIns="0" rIns="0" bIns="0" rtlCol="0" anchor="ctr"/>
          <a:lstStyle/>
          <a:p>
            <a:pPr indent="0" marL="0">
              <a:buNone/>
            </a:pPr>
            <a:r>
              <a:rPr lang="en-US" sz="900" b="1" spc="400" kern="0" dirty="0">
                <a:solidFill>
                  <a:srgbClr val="B22222"/>
                </a:solidFill>
                <a:latin typeface="Calibri" pitchFamily="34" charset="0"/>
                <a:ea typeface="Calibri" pitchFamily="34" charset="-122"/>
                <a:cs typeface="Calibri" pitchFamily="34" charset="-120"/>
              </a:rPr>
              <a:t>RISCO MÉDIO</a:t>
            </a:r>
            <a:endParaRPr lang="en-US" sz="900" dirty="0"/>
          </a:p>
        </p:txBody>
      </p:sp>
      <p:sp>
        <p:nvSpPr>
          <p:cNvPr id="23" name="Text 21"/>
          <p:cNvSpPr/>
          <p:nvPr/>
        </p:nvSpPr>
        <p:spPr>
          <a:xfrm>
            <a:off x="6583680" y="4279392"/>
            <a:ext cx="4892040" cy="411480"/>
          </a:xfrm>
          <a:prstGeom prst="rect">
            <a:avLst/>
          </a:prstGeom>
          <a:noFill/>
          <a:ln/>
        </p:spPr>
        <p:txBody>
          <a:bodyPr wrap="square" lIns="0" tIns="0" rIns="0" bIns="0" rtlCol="0" anchor="ctr"/>
          <a:lstStyle/>
          <a:p>
            <a:pPr indent="0" marL="0">
              <a:buNone/>
            </a:pPr>
            <a:r>
              <a:rPr lang="en-US" sz="1700" b="1" dirty="0">
                <a:solidFill>
                  <a:srgbClr val="F0E2C1"/>
                </a:solidFill>
                <a:latin typeface="Georgia" pitchFamily="34" charset="0"/>
                <a:ea typeface="Georgia" pitchFamily="34" charset="-122"/>
                <a:cs typeface="Georgia" pitchFamily="34" charset="-120"/>
              </a:rPr>
              <a:t>RPG Maker MZ não é racing engine</a:t>
            </a:r>
            <a:endParaRPr lang="en-US" sz="1700" dirty="0"/>
          </a:p>
        </p:txBody>
      </p:sp>
      <p:sp>
        <p:nvSpPr>
          <p:cNvPr id="24" name="Text 22"/>
          <p:cNvSpPr/>
          <p:nvPr/>
        </p:nvSpPr>
        <p:spPr>
          <a:xfrm>
            <a:off x="6583680" y="4709160"/>
            <a:ext cx="4892040" cy="1143000"/>
          </a:xfrm>
          <a:prstGeom prst="rect">
            <a:avLst/>
          </a:prstGeom>
          <a:noFill/>
          <a:ln/>
        </p:spPr>
        <p:txBody>
          <a:bodyPr wrap="square" lIns="0" tIns="0" rIns="0" bIns="0" rtlCol="0" anchor="ctr"/>
          <a:lstStyle/>
          <a:p>
            <a:pPr indent="0" marL="0">
              <a:buNone/>
            </a:pPr>
            <a:r>
              <a:rPr lang="en-US" sz="1100" dirty="0">
                <a:solidFill>
                  <a:srgbClr val="C9B68A"/>
                </a:solidFill>
                <a:latin typeface="Calibri" pitchFamily="34" charset="0"/>
                <a:ea typeface="Calibri" pitchFamily="34" charset="-122"/>
                <a:cs typeface="Calibri" pitchFamily="34" charset="-120"/>
              </a:rPr>
              <a:t>Não é racing real — é minigame timer-based via eventos + Show Picture + Move Picture + variáveis. MZ nativo pra isso.</a:t>
            </a:r>
            <a:endParaRPr lang="en-US" sz="1100" dirty="0"/>
          </a:p>
        </p:txBody>
      </p:sp>
      <p:sp>
        <p:nvSpPr>
          <p:cNvPr id="25" name="Text 23"/>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26" name="Text 24"/>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15  •  DECISÃO</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Próximos passos</a:t>
            </a:r>
            <a:endParaRPr lang="en-US" sz="3400" dirty="0"/>
          </a:p>
        </p:txBody>
      </p:sp>
      <p:sp>
        <p:nvSpPr>
          <p:cNvPr id="5" name="Shape 3"/>
          <p:cNvSpPr/>
          <p:nvPr/>
        </p:nvSpPr>
        <p:spPr>
          <a:xfrm>
            <a:off x="822960" y="1783080"/>
            <a:ext cx="10972800" cy="1188720"/>
          </a:xfrm>
          <a:prstGeom prst="rect">
            <a:avLst/>
          </a:prstGeom>
          <a:solidFill>
            <a:srgbClr val="332A22"/>
          </a:solidFill>
          <a:ln w="12700">
            <a:solidFill>
              <a:srgbClr val="2A221B"/>
            </a:solidFill>
            <a:prstDash val="solid"/>
          </a:ln>
        </p:spPr>
      </p:sp>
      <p:sp>
        <p:nvSpPr>
          <p:cNvPr id="6" name="Text 4"/>
          <p:cNvSpPr/>
          <p:nvPr/>
        </p:nvSpPr>
        <p:spPr>
          <a:xfrm>
            <a:off x="1051560" y="1920240"/>
            <a:ext cx="10515600" cy="914400"/>
          </a:xfrm>
          <a:prstGeom prst="rect">
            <a:avLst/>
          </a:prstGeom>
          <a:noFill/>
          <a:ln/>
        </p:spPr>
        <p:txBody>
          <a:bodyPr wrap="square" lIns="0" tIns="0" rIns="0" bIns="0" rtlCol="0" anchor="ctr"/>
          <a:lstStyle/>
          <a:p>
            <a:pPr indent="0" marL="0">
              <a:buNone/>
            </a:pPr>
            <a:r>
              <a:rPr lang="en-US" sz="1600" i="1" dirty="0">
                <a:solidFill>
                  <a:srgbClr val="F0E2C1"/>
                </a:solidFill>
                <a:latin typeface="Georgia" pitchFamily="34" charset="0"/>
                <a:ea typeface="Georgia" pitchFamily="34" charset="-122"/>
                <a:cs typeface="Georgia" pitchFamily="34" charset="-120"/>
              </a:rPr>
              <a:t>"Este jogo é about amor, não about morte. A tragédia está no fracasso em perceber, não no ato em si. A mensagem é: preste atenção nos seus amigos."</a:t>
            </a:r>
            <a:endParaRPr lang="en-US" sz="1600" dirty="0"/>
          </a:p>
        </p:txBody>
      </p:sp>
      <p:sp>
        <p:nvSpPr>
          <p:cNvPr id="7" name="Text 5"/>
          <p:cNvSpPr/>
          <p:nvPr/>
        </p:nvSpPr>
        <p:spPr>
          <a:xfrm>
            <a:off x="822960" y="3154680"/>
            <a:ext cx="10972800" cy="274320"/>
          </a:xfrm>
          <a:prstGeom prst="rect">
            <a:avLst/>
          </a:prstGeom>
          <a:noFill/>
          <a:ln/>
        </p:spPr>
        <p:txBody>
          <a:bodyPr wrap="square" lIns="0" tIns="0" rIns="0" bIns="0" rtlCol="0" anchor="ctr"/>
          <a:lstStyle/>
          <a:p>
            <a:pPr indent="0" marL="0">
              <a:buNone/>
            </a:pPr>
            <a:r>
              <a:rPr lang="en-US" sz="1000" b="1" spc="500" kern="0" dirty="0">
                <a:solidFill>
                  <a:srgbClr val="B22222"/>
                </a:solidFill>
                <a:latin typeface="Calibri" pitchFamily="34" charset="0"/>
                <a:ea typeface="Calibri" pitchFamily="34" charset="-122"/>
                <a:cs typeface="Calibri" pitchFamily="34" charset="-120"/>
              </a:rPr>
              <a:t>O QUE PRECISAMOS DECIDIR / FAZER</a:t>
            </a:r>
            <a:endParaRPr lang="en-US" sz="1000" dirty="0"/>
          </a:p>
        </p:txBody>
      </p:sp>
      <p:sp>
        <p:nvSpPr>
          <p:cNvPr id="8" name="Shape 6"/>
          <p:cNvSpPr/>
          <p:nvPr/>
        </p:nvSpPr>
        <p:spPr>
          <a:xfrm>
            <a:off x="822960" y="3520440"/>
            <a:ext cx="5349240" cy="822960"/>
          </a:xfrm>
          <a:prstGeom prst="rect">
            <a:avLst/>
          </a:prstGeom>
          <a:solidFill>
            <a:srgbClr val="3F342B"/>
          </a:solidFill>
          <a:ln w="12700">
            <a:solidFill>
              <a:srgbClr val="2A221B"/>
            </a:solidFill>
            <a:prstDash val="solid"/>
          </a:ln>
        </p:spPr>
      </p:sp>
      <p:sp>
        <p:nvSpPr>
          <p:cNvPr id="9" name="Text 7"/>
          <p:cNvSpPr/>
          <p:nvPr/>
        </p:nvSpPr>
        <p:spPr>
          <a:xfrm>
            <a:off x="960120" y="3611880"/>
            <a:ext cx="731520" cy="731520"/>
          </a:xfrm>
          <a:prstGeom prst="rect">
            <a:avLst/>
          </a:prstGeom>
          <a:noFill/>
          <a:ln/>
        </p:spPr>
        <p:txBody>
          <a:bodyPr wrap="square" lIns="0" tIns="0" rIns="0" bIns="0" rtlCol="0" anchor="ctr"/>
          <a:lstStyle/>
          <a:p>
            <a:pPr indent="0" marL="0">
              <a:buNone/>
            </a:pPr>
            <a:r>
              <a:rPr lang="en-US" sz="2800" b="1" dirty="0">
                <a:solidFill>
                  <a:srgbClr val="B22222"/>
                </a:solidFill>
                <a:latin typeface="Georgia" pitchFamily="34" charset="0"/>
                <a:ea typeface="Georgia" pitchFamily="34" charset="-122"/>
                <a:cs typeface="Georgia" pitchFamily="34" charset="-120"/>
              </a:rPr>
              <a:t>01</a:t>
            </a:r>
            <a:endParaRPr lang="en-US" sz="2800" dirty="0"/>
          </a:p>
        </p:txBody>
      </p:sp>
      <p:sp>
        <p:nvSpPr>
          <p:cNvPr id="10" name="Text 8"/>
          <p:cNvSpPr/>
          <p:nvPr/>
        </p:nvSpPr>
        <p:spPr>
          <a:xfrm>
            <a:off x="1737360" y="3630168"/>
            <a:ext cx="4297680" cy="457200"/>
          </a:xfrm>
          <a:prstGeom prst="rect">
            <a:avLst/>
          </a:prstGeom>
          <a:noFill/>
          <a:ln/>
        </p:spPr>
        <p:txBody>
          <a:bodyPr wrap="square" lIns="0" tIns="0" rIns="0" bIns="0" rtlCol="0" anchor="ctr"/>
          <a:lstStyle/>
          <a:p>
            <a:pPr indent="0" marL="0">
              <a:buNone/>
            </a:pPr>
            <a:r>
              <a:rPr lang="en-US" sz="1200" b="1" dirty="0">
                <a:solidFill>
                  <a:srgbClr val="F0E2C1"/>
                </a:solidFill>
                <a:latin typeface="Calibri" pitchFamily="34" charset="0"/>
                <a:ea typeface="Calibri" pitchFamily="34" charset="-122"/>
                <a:cs typeface="Calibri" pitchFamily="34" charset="-120"/>
              </a:rPr>
              <a:t>Aprovar este pitch v2 como baseline</a:t>
            </a:r>
            <a:endParaRPr lang="en-US" sz="1200" dirty="0"/>
          </a:p>
        </p:txBody>
      </p:sp>
      <p:sp>
        <p:nvSpPr>
          <p:cNvPr id="11" name="Text 9"/>
          <p:cNvSpPr/>
          <p:nvPr/>
        </p:nvSpPr>
        <p:spPr>
          <a:xfrm>
            <a:off x="1737360" y="4023360"/>
            <a:ext cx="429768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Decisão de time — subir / não subir.</a:t>
            </a:r>
            <a:endParaRPr lang="en-US" sz="1000" dirty="0"/>
          </a:p>
        </p:txBody>
      </p:sp>
      <p:sp>
        <p:nvSpPr>
          <p:cNvPr id="12" name="Shape 10"/>
          <p:cNvSpPr/>
          <p:nvPr/>
        </p:nvSpPr>
        <p:spPr>
          <a:xfrm>
            <a:off x="6309360" y="3520440"/>
            <a:ext cx="5349240" cy="822960"/>
          </a:xfrm>
          <a:prstGeom prst="rect">
            <a:avLst/>
          </a:prstGeom>
          <a:solidFill>
            <a:srgbClr val="3F342B"/>
          </a:solidFill>
          <a:ln w="12700">
            <a:solidFill>
              <a:srgbClr val="2A221B"/>
            </a:solidFill>
            <a:prstDash val="solid"/>
          </a:ln>
        </p:spPr>
      </p:sp>
      <p:sp>
        <p:nvSpPr>
          <p:cNvPr id="13" name="Text 11"/>
          <p:cNvSpPr/>
          <p:nvPr/>
        </p:nvSpPr>
        <p:spPr>
          <a:xfrm>
            <a:off x="6446520" y="3611880"/>
            <a:ext cx="731520" cy="731520"/>
          </a:xfrm>
          <a:prstGeom prst="rect">
            <a:avLst/>
          </a:prstGeom>
          <a:noFill/>
          <a:ln/>
        </p:spPr>
        <p:txBody>
          <a:bodyPr wrap="square" lIns="0" tIns="0" rIns="0" bIns="0" rtlCol="0" anchor="ctr"/>
          <a:lstStyle/>
          <a:p>
            <a:pPr indent="0" marL="0">
              <a:buNone/>
            </a:pPr>
            <a:r>
              <a:rPr lang="en-US" sz="2800" b="1" dirty="0">
                <a:solidFill>
                  <a:srgbClr val="B22222"/>
                </a:solidFill>
                <a:latin typeface="Georgia" pitchFamily="34" charset="0"/>
                <a:ea typeface="Georgia" pitchFamily="34" charset="-122"/>
                <a:cs typeface="Georgia" pitchFamily="34" charset="-120"/>
              </a:rPr>
              <a:t>02</a:t>
            </a:r>
            <a:endParaRPr lang="en-US" sz="2800" dirty="0"/>
          </a:p>
        </p:txBody>
      </p:sp>
      <p:sp>
        <p:nvSpPr>
          <p:cNvPr id="14" name="Text 12"/>
          <p:cNvSpPr/>
          <p:nvPr/>
        </p:nvSpPr>
        <p:spPr>
          <a:xfrm>
            <a:off x="7223760" y="3630168"/>
            <a:ext cx="4297680" cy="457200"/>
          </a:xfrm>
          <a:prstGeom prst="rect">
            <a:avLst/>
          </a:prstGeom>
          <a:noFill/>
          <a:ln/>
        </p:spPr>
        <p:txBody>
          <a:bodyPr wrap="square" lIns="0" tIns="0" rIns="0" bIns="0" rtlCol="0" anchor="ctr"/>
          <a:lstStyle/>
          <a:p>
            <a:pPr indent="0" marL="0">
              <a:buNone/>
            </a:pPr>
            <a:r>
              <a:rPr lang="en-US" sz="1200" b="1" dirty="0">
                <a:solidFill>
                  <a:srgbClr val="F0E2C1"/>
                </a:solidFill>
                <a:latin typeface="Calibri" pitchFamily="34" charset="0"/>
                <a:ea typeface="Calibri" pitchFamily="34" charset="-122"/>
                <a:cs typeface="Calibri" pitchFamily="34" charset="-120"/>
              </a:rPr>
              <a:t>Consultar advogado / revisor da jam sobre uso transformative de "Dezesseis"</a:t>
            </a:r>
            <a:endParaRPr lang="en-US" sz="1200" dirty="0"/>
          </a:p>
        </p:txBody>
      </p:sp>
      <p:sp>
        <p:nvSpPr>
          <p:cNvPr id="15" name="Text 13"/>
          <p:cNvSpPr/>
          <p:nvPr/>
        </p:nvSpPr>
        <p:spPr>
          <a:xfrm>
            <a:off x="7223760" y="4023360"/>
            <a:ext cx="429768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Alto risco IP. Bloqueador antes do D1.</a:t>
            </a:r>
            <a:endParaRPr lang="en-US" sz="1000" dirty="0"/>
          </a:p>
        </p:txBody>
      </p:sp>
      <p:sp>
        <p:nvSpPr>
          <p:cNvPr id="16" name="Shape 14"/>
          <p:cNvSpPr/>
          <p:nvPr/>
        </p:nvSpPr>
        <p:spPr>
          <a:xfrm>
            <a:off x="822960" y="4480560"/>
            <a:ext cx="5349240" cy="822960"/>
          </a:xfrm>
          <a:prstGeom prst="rect">
            <a:avLst/>
          </a:prstGeom>
          <a:solidFill>
            <a:srgbClr val="3F342B"/>
          </a:solidFill>
          <a:ln w="12700">
            <a:solidFill>
              <a:srgbClr val="2A221B"/>
            </a:solidFill>
            <a:prstDash val="solid"/>
          </a:ln>
        </p:spPr>
      </p:sp>
      <p:sp>
        <p:nvSpPr>
          <p:cNvPr id="17" name="Text 15"/>
          <p:cNvSpPr/>
          <p:nvPr/>
        </p:nvSpPr>
        <p:spPr>
          <a:xfrm>
            <a:off x="960120" y="4572000"/>
            <a:ext cx="731520" cy="731520"/>
          </a:xfrm>
          <a:prstGeom prst="rect">
            <a:avLst/>
          </a:prstGeom>
          <a:noFill/>
          <a:ln/>
        </p:spPr>
        <p:txBody>
          <a:bodyPr wrap="square" lIns="0" tIns="0" rIns="0" bIns="0" rtlCol="0" anchor="ctr"/>
          <a:lstStyle/>
          <a:p>
            <a:pPr indent="0" marL="0">
              <a:buNone/>
            </a:pPr>
            <a:r>
              <a:rPr lang="en-US" sz="2800" b="1" dirty="0">
                <a:solidFill>
                  <a:srgbClr val="B22222"/>
                </a:solidFill>
                <a:latin typeface="Georgia" pitchFamily="34" charset="0"/>
                <a:ea typeface="Georgia" pitchFamily="34" charset="-122"/>
                <a:cs typeface="Georgia" pitchFamily="34" charset="-120"/>
              </a:rPr>
              <a:t>03</a:t>
            </a:r>
            <a:endParaRPr lang="en-US" sz="2800" dirty="0"/>
          </a:p>
        </p:txBody>
      </p:sp>
      <p:sp>
        <p:nvSpPr>
          <p:cNvPr id="18" name="Text 16"/>
          <p:cNvSpPr/>
          <p:nvPr/>
        </p:nvSpPr>
        <p:spPr>
          <a:xfrm>
            <a:off x="1737360" y="4590288"/>
            <a:ext cx="4297680" cy="457200"/>
          </a:xfrm>
          <a:prstGeom prst="rect">
            <a:avLst/>
          </a:prstGeom>
          <a:noFill/>
          <a:ln/>
        </p:spPr>
        <p:txBody>
          <a:bodyPr wrap="square" lIns="0" tIns="0" rIns="0" bIns="0" rtlCol="0" anchor="ctr"/>
          <a:lstStyle/>
          <a:p>
            <a:pPr indent="0" marL="0">
              <a:buNone/>
            </a:pPr>
            <a:r>
              <a:rPr lang="en-US" sz="1200" b="1" dirty="0">
                <a:solidFill>
                  <a:srgbClr val="F0E2C1"/>
                </a:solidFill>
                <a:latin typeface="Calibri" pitchFamily="34" charset="0"/>
                <a:ea typeface="Calibri" pitchFamily="34" charset="-122"/>
                <a:cs typeface="Calibri" pitchFamily="34" charset="-120"/>
              </a:rPr>
              <a:t>Consultar profissional de saúde mental sobre representação da depressão</a:t>
            </a:r>
            <a:endParaRPr lang="en-US" sz="1200" dirty="0"/>
          </a:p>
        </p:txBody>
      </p:sp>
      <p:sp>
        <p:nvSpPr>
          <p:cNvPr id="19" name="Text 17"/>
          <p:cNvSpPr/>
          <p:nvPr/>
        </p:nvSpPr>
        <p:spPr>
          <a:xfrm>
            <a:off x="1737360" y="4983480"/>
            <a:ext cx="429768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Especialmente o epílogo do final escondido.</a:t>
            </a:r>
            <a:endParaRPr lang="en-US" sz="1000" dirty="0"/>
          </a:p>
        </p:txBody>
      </p:sp>
      <p:sp>
        <p:nvSpPr>
          <p:cNvPr id="20" name="Shape 18"/>
          <p:cNvSpPr/>
          <p:nvPr/>
        </p:nvSpPr>
        <p:spPr>
          <a:xfrm>
            <a:off x="6309360" y="4480560"/>
            <a:ext cx="5349240" cy="822960"/>
          </a:xfrm>
          <a:prstGeom prst="rect">
            <a:avLst/>
          </a:prstGeom>
          <a:solidFill>
            <a:srgbClr val="3F342B"/>
          </a:solidFill>
          <a:ln w="12700">
            <a:solidFill>
              <a:srgbClr val="2A221B"/>
            </a:solidFill>
            <a:prstDash val="solid"/>
          </a:ln>
        </p:spPr>
      </p:sp>
      <p:sp>
        <p:nvSpPr>
          <p:cNvPr id="21" name="Text 19"/>
          <p:cNvSpPr/>
          <p:nvPr/>
        </p:nvSpPr>
        <p:spPr>
          <a:xfrm>
            <a:off x="6446520" y="4572000"/>
            <a:ext cx="731520" cy="731520"/>
          </a:xfrm>
          <a:prstGeom prst="rect">
            <a:avLst/>
          </a:prstGeom>
          <a:noFill/>
          <a:ln/>
        </p:spPr>
        <p:txBody>
          <a:bodyPr wrap="square" lIns="0" tIns="0" rIns="0" bIns="0" rtlCol="0" anchor="ctr"/>
          <a:lstStyle/>
          <a:p>
            <a:pPr indent="0" marL="0">
              <a:buNone/>
            </a:pPr>
            <a:r>
              <a:rPr lang="en-US" sz="2800" b="1" dirty="0">
                <a:solidFill>
                  <a:srgbClr val="B22222"/>
                </a:solidFill>
                <a:latin typeface="Georgia" pitchFamily="34" charset="0"/>
                <a:ea typeface="Georgia" pitchFamily="34" charset="-122"/>
                <a:cs typeface="Georgia" pitchFamily="34" charset="-120"/>
              </a:rPr>
              <a:t>04</a:t>
            </a:r>
            <a:endParaRPr lang="en-US" sz="2800" dirty="0"/>
          </a:p>
        </p:txBody>
      </p:sp>
      <p:sp>
        <p:nvSpPr>
          <p:cNvPr id="22" name="Text 20"/>
          <p:cNvSpPr/>
          <p:nvPr/>
        </p:nvSpPr>
        <p:spPr>
          <a:xfrm>
            <a:off x="7223760" y="4590288"/>
            <a:ext cx="4297680" cy="457200"/>
          </a:xfrm>
          <a:prstGeom prst="rect">
            <a:avLst/>
          </a:prstGeom>
          <a:noFill/>
          <a:ln/>
        </p:spPr>
        <p:txBody>
          <a:bodyPr wrap="square" lIns="0" tIns="0" rIns="0" bIns="0" rtlCol="0" anchor="ctr"/>
          <a:lstStyle/>
          <a:p>
            <a:pPr indent="0" marL="0">
              <a:buNone/>
            </a:pPr>
            <a:r>
              <a:rPr lang="en-US" sz="1200" b="1" dirty="0">
                <a:solidFill>
                  <a:srgbClr val="F0E2C1"/>
                </a:solidFill>
                <a:latin typeface="Calibri" pitchFamily="34" charset="0"/>
                <a:ea typeface="Calibri" pitchFamily="34" charset="-122"/>
                <a:cs typeface="Calibri" pitchFamily="34" charset="-120"/>
              </a:rPr>
              <a:t>Iniciar TechSpec/GDD detalhado</a:t>
            </a:r>
            <a:endParaRPr lang="en-US" sz="1200" dirty="0"/>
          </a:p>
        </p:txBody>
      </p:sp>
      <p:sp>
        <p:nvSpPr>
          <p:cNvPr id="23" name="Text 21"/>
          <p:cNvSpPr/>
          <p:nvPr/>
        </p:nvSpPr>
        <p:spPr>
          <a:xfrm>
            <a:off x="7223760" y="4983480"/>
            <a:ext cx="429768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Próximo nível — sistema de ConcernScore e gating de opções.</a:t>
            </a:r>
            <a:endParaRPr lang="en-US" sz="1000" dirty="0"/>
          </a:p>
        </p:txBody>
      </p:sp>
      <p:sp>
        <p:nvSpPr>
          <p:cNvPr id="24" name="Shape 22"/>
          <p:cNvSpPr/>
          <p:nvPr/>
        </p:nvSpPr>
        <p:spPr>
          <a:xfrm>
            <a:off x="822960" y="5440680"/>
            <a:ext cx="5349240" cy="822960"/>
          </a:xfrm>
          <a:prstGeom prst="rect">
            <a:avLst/>
          </a:prstGeom>
          <a:solidFill>
            <a:srgbClr val="3F342B"/>
          </a:solidFill>
          <a:ln w="12700">
            <a:solidFill>
              <a:srgbClr val="2A221B"/>
            </a:solidFill>
            <a:prstDash val="solid"/>
          </a:ln>
        </p:spPr>
      </p:sp>
      <p:sp>
        <p:nvSpPr>
          <p:cNvPr id="25" name="Text 23"/>
          <p:cNvSpPr/>
          <p:nvPr/>
        </p:nvSpPr>
        <p:spPr>
          <a:xfrm>
            <a:off x="960120" y="5532120"/>
            <a:ext cx="731520" cy="731520"/>
          </a:xfrm>
          <a:prstGeom prst="rect">
            <a:avLst/>
          </a:prstGeom>
          <a:noFill/>
          <a:ln/>
        </p:spPr>
        <p:txBody>
          <a:bodyPr wrap="square" lIns="0" tIns="0" rIns="0" bIns="0" rtlCol="0" anchor="ctr"/>
          <a:lstStyle/>
          <a:p>
            <a:pPr indent="0" marL="0">
              <a:buNone/>
            </a:pPr>
            <a:r>
              <a:rPr lang="en-US" sz="2800" b="1" dirty="0">
                <a:solidFill>
                  <a:srgbClr val="B22222"/>
                </a:solidFill>
                <a:latin typeface="Georgia" pitchFamily="34" charset="0"/>
                <a:ea typeface="Georgia" pitchFamily="34" charset="-122"/>
                <a:cs typeface="Georgia" pitchFamily="34" charset="-120"/>
              </a:rPr>
              <a:t>05</a:t>
            </a:r>
            <a:endParaRPr lang="en-US" sz="2800" dirty="0"/>
          </a:p>
        </p:txBody>
      </p:sp>
      <p:sp>
        <p:nvSpPr>
          <p:cNvPr id="26" name="Text 24"/>
          <p:cNvSpPr/>
          <p:nvPr/>
        </p:nvSpPr>
        <p:spPr>
          <a:xfrm>
            <a:off x="1737360" y="5550408"/>
            <a:ext cx="4297680" cy="457200"/>
          </a:xfrm>
          <a:prstGeom prst="rect">
            <a:avLst/>
          </a:prstGeom>
          <a:noFill/>
          <a:ln/>
        </p:spPr>
        <p:txBody>
          <a:bodyPr wrap="square" lIns="0" tIns="0" rIns="0" bIns="0" rtlCol="0" anchor="ctr"/>
          <a:lstStyle/>
          <a:p>
            <a:pPr indent="0" marL="0">
              <a:buNone/>
            </a:pPr>
            <a:r>
              <a:rPr lang="en-US" sz="1200" b="1" dirty="0">
                <a:solidFill>
                  <a:srgbClr val="F0E2C1"/>
                </a:solidFill>
                <a:latin typeface="Calibri" pitchFamily="34" charset="0"/>
                <a:ea typeface="Calibri" pitchFamily="34" charset="-122"/>
                <a:cs typeface="Calibri" pitchFamily="34" charset="-120"/>
              </a:rPr>
              <a:t>Definir assets humanos</a:t>
            </a:r>
            <a:endParaRPr lang="en-US" sz="1200" dirty="0"/>
          </a:p>
        </p:txBody>
      </p:sp>
      <p:sp>
        <p:nvSpPr>
          <p:cNvPr id="27" name="Text 25"/>
          <p:cNvSpPr/>
          <p:nvPr/>
        </p:nvSpPr>
        <p:spPr>
          <a:xfrm>
            <a:off x="1737360" y="5943600"/>
            <a:ext cx="429768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Compositor pós-punk? Artista para direção de arte? Dublador brasiliense?</a:t>
            </a:r>
            <a:endParaRPr lang="en-US" sz="1000" dirty="0"/>
          </a:p>
        </p:txBody>
      </p:sp>
      <p:sp>
        <p:nvSpPr>
          <p:cNvPr id="28" name="Shape 26"/>
          <p:cNvSpPr/>
          <p:nvPr/>
        </p:nvSpPr>
        <p:spPr>
          <a:xfrm>
            <a:off x="6309360" y="5440680"/>
            <a:ext cx="5349240" cy="822960"/>
          </a:xfrm>
          <a:prstGeom prst="rect">
            <a:avLst/>
          </a:prstGeom>
          <a:solidFill>
            <a:srgbClr val="3F342B"/>
          </a:solidFill>
          <a:ln w="12700">
            <a:solidFill>
              <a:srgbClr val="2A221B"/>
            </a:solidFill>
            <a:prstDash val="solid"/>
          </a:ln>
        </p:spPr>
      </p:sp>
      <p:sp>
        <p:nvSpPr>
          <p:cNvPr id="29" name="Text 27"/>
          <p:cNvSpPr/>
          <p:nvPr/>
        </p:nvSpPr>
        <p:spPr>
          <a:xfrm>
            <a:off x="6446520" y="5532120"/>
            <a:ext cx="731520" cy="731520"/>
          </a:xfrm>
          <a:prstGeom prst="rect">
            <a:avLst/>
          </a:prstGeom>
          <a:noFill/>
          <a:ln/>
        </p:spPr>
        <p:txBody>
          <a:bodyPr wrap="square" lIns="0" tIns="0" rIns="0" bIns="0" rtlCol="0" anchor="ctr"/>
          <a:lstStyle/>
          <a:p>
            <a:pPr indent="0" marL="0">
              <a:buNone/>
            </a:pPr>
            <a:r>
              <a:rPr lang="en-US" sz="2800" b="1" dirty="0">
                <a:solidFill>
                  <a:srgbClr val="B22222"/>
                </a:solidFill>
                <a:latin typeface="Georgia" pitchFamily="34" charset="0"/>
                <a:ea typeface="Georgia" pitchFamily="34" charset="-122"/>
                <a:cs typeface="Georgia" pitchFamily="34" charset="-120"/>
              </a:rPr>
              <a:t>06</a:t>
            </a:r>
            <a:endParaRPr lang="en-US" sz="2800" dirty="0"/>
          </a:p>
        </p:txBody>
      </p:sp>
      <p:sp>
        <p:nvSpPr>
          <p:cNvPr id="30" name="Text 28"/>
          <p:cNvSpPr/>
          <p:nvPr/>
        </p:nvSpPr>
        <p:spPr>
          <a:xfrm>
            <a:off x="7223760" y="5550408"/>
            <a:ext cx="4297680" cy="457200"/>
          </a:xfrm>
          <a:prstGeom prst="rect">
            <a:avLst/>
          </a:prstGeom>
          <a:noFill/>
          <a:ln/>
        </p:spPr>
        <p:txBody>
          <a:bodyPr wrap="square" lIns="0" tIns="0" rIns="0" bIns="0" rtlCol="0" anchor="ctr"/>
          <a:lstStyle/>
          <a:p>
            <a:pPr indent="0" marL="0">
              <a:buNone/>
            </a:pPr>
            <a:r>
              <a:rPr lang="en-US" sz="1200" b="1" dirty="0">
                <a:solidFill>
                  <a:srgbClr val="F0E2C1"/>
                </a:solidFill>
                <a:latin typeface="Calibri" pitchFamily="34" charset="0"/>
                <a:ea typeface="Calibri" pitchFamily="34" charset="-122"/>
                <a:cs typeface="Calibri" pitchFamily="34" charset="-120"/>
              </a:rPr>
              <a:t>Confirmar datas exatas da jam</a:t>
            </a:r>
            <a:endParaRPr lang="en-US" sz="1200" dirty="0"/>
          </a:p>
        </p:txBody>
      </p:sp>
      <p:sp>
        <p:nvSpPr>
          <p:cNvPr id="31" name="Text 29"/>
          <p:cNvSpPr/>
          <p:nvPr/>
        </p:nvSpPr>
        <p:spPr>
          <a:xfrm>
            <a:off x="7223760" y="5943600"/>
            <a:ext cx="4297680" cy="365760"/>
          </a:xfrm>
          <a:prstGeom prst="rect">
            <a:avLst/>
          </a:prstGeom>
          <a:noFill/>
          <a:ln/>
        </p:spPr>
        <p:txBody>
          <a:bodyPr wrap="square" lIns="0" tIns="0" rIns="0" bIns="0" rtlCol="0" anchor="ctr"/>
          <a:lstStyle/>
          <a:p>
            <a:pPr indent="0" marL="0">
              <a:buNone/>
            </a:pPr>
            <a:r>
              <a:rPr lang="en-US" sz="1000" dirty="0">
                <a:solidFill>
                  <a:srgbClr val="C9B68A"/>
                </a:solidFill>
                <a:latin typeface="Calibri" pitchFamily="34" charset="0"/>
                <a:ea typeface="Calibri" pitchFamily="34" charset="-122"/>
                <a:cs typeface="Calibri" pitchFamily="34" charset="-120"/>
              </a:rPr>
              <a:t>Refinar cronograma de 7 dias.</a:t>
            </a:r>
            <a:endParaRPr lang="en-US" sz="1000" dirty="0"/>
          </a:p>
        </p:txBody>
      </p:sp>
      <p:sp>
        <p:nvSpPr>
          <p:cNvPr id="32" name="Text 30"/>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33" name="Text 31"/>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15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 Inspiracoes">
    <p:bg>
      <p:bgPr>
        <a:solidFill>
          <a:srgbClr val="1A141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B0000"/>
          </a:solidFill>
          <a:ln w="12700">
            <a:solidFill>
              <a:srgbClr val="8B0000"/>
            </a:solidFill>
            <a:prstDash val="solid"/>
          </a:ln>
        </p:spPr>
      </p:sp>
      <p:sp>
        <p:nvSpPr>
          <p:cNvPr id="3" name="Text 1"/>
          <p:cNvSpPr/>
          <p:nvPr/>
        </p:nvSpPr>
        <p:spPr>
          <a:xfrm>
            <a:off x="548640" y="365760"/>
            <a:ext cx="10972800" cy="274320"/>
          </a:xfrm>
          <a:prstGeom prst="rect">
            <a:avLst/>
          </a:prstGeom>
          <a:noFill/>
          <a:ln/>
        </p:spPr>
        <p:txBody>
          <a:bodyPr wrap="square" lIns="0" tIns="0" rIns="0" bIns="0" rtlCol="0" anchor="ctr"/>
          <a:lstStyle/>
          <a:p>
            <a:pPr indent="0" marL="0">
              <a:buNone/>
            </a:pPr>
            <a:r>
              <a:rPr lang="en-US" sz="1100" b="1" spc="600" kern="0" dirty="0">
                <a:solidFill>
                  <a:srgbClr val="B22222"/>
                </a:solidFill>
                <a:latin typeface="Calibri" pitchFamily="34" charset="0"/>
                <a:ea typeface="Calibri" pitchFamily="34" charset="-122"/>
                <a:cs typeface="Calibri" pitchFamily="34" charset="-120"/>
              </a:rPr>
              <a:t>SLIDE 4  •  INSPIRAÇÕES</a:t>
            </a:r>
            <a:endParaRPr lang="en-US" sz="1100" dirty="0"/>
          </a:p>
        </p:txBody>
      </p:sp>
      <p:sp>
        <p:nvSpPr>
          <p:cNvPr id="4" name="Text 2"/>
          <p:cNvSpPr/>
          <p:nvPr/>
        </p:nvSpPr>
        <p:spPr>
          <a:xfrm>
            <a:off x="548640" y="685800"/>
            <a:ext cx="10972800" cy="731520"/>
          </a:xfrm>
          <a:prstGeom prst="rect">
            <a:avLst/>
          </a:prstGeom>
          <a:noFill/>
          <a:ln/>
        </p:spPr>
        <p:txBody>
          <a:bodyPr wrap="square" lIns="0" tIns="0" rIns="0" bIns="0" rtlCol="0" anchor="ctr"/>
          <a:lstStyle/>
          <a:p>
            <a:pPr indent="0" marL="0">
              <a:buNone/>
            </a:pPr>
            <a:r>
              <a:rPr lang="en-US" sz="3400" b="1" dirty="0">
                <a:solidFill>
                  <a:srgbClr val="F0E2C1"/>
                </a:solidFill>
                <a:latin typeface="Georgia" pitchFamily="34" charset="0"/>
                <a:ea typeface="Georgia" pitchFamily="34" charset="-122"/>
                <a:cs typeface="Georgia" pitchFamily="34" charset="-120"/>
              </a:rPr>
              <a:t>Onde o jogo bebeu a sua água</a:t>
            </a:r>
            <a:endParaRPr lang="en-US" sz="3400" dirty="0"/>
          </a:p>
        </p:txBody>
      </p:sp>
      <p:sp>
        <p:nvSpPr>
          <p:cNvPr id="5" name="Text 3"/>
          <p:cNvSpPr/>
          <p:nvPr/>
        </p:nvSpPr>
        <p:spPr>
          <a:xfrm>
            <a:off x="822960" y="1737360"/>
            <a:ext cx="10972800" cy="365760"/>
          </a:xfrm>
          <a:prstGeom prst="rect">
            <a:avLst/>
          </a:prstGeom>
          <a:noFill/>
          <a:ln/>
        </p:spPr>
        <p:txBody>
          <a:bodyPr wrap="square" lIns="0" tIns="0" rIns="0" bIns="0" rtlCol="0" anchor="ctr"/>
          <a:lstStyle/>
          <a:p>
            <a:pPr indent="0" marL="0">
              <a:buNone/>
            </a:pPr>
            <a:r>
              <a:rPr lang="en-US" sz="1200" b="1" spc="500" kern="0" dirty="0">
                <a:solidFill>
                  <a:srgbClr val="B22222"/>
                </a:solidFill>
                <a:latin typeface="Calibri" pitchFamily="34" charset="0"/>
                <a:ea typeface="Calibri" pitchFamily="34" charset="-122"/>
                <a:cs typeface="Calibri" pitchFamily="34" charset="-120"/>
              </a:rPr>
              <a:t>DUAS FONTES, UMA TESSE</a:t>
            </a:r>
            <a:endParaRPr lang="en-US" sz="1200" dirty="0"/>
          </a:p>
        </p:txBody>
      </p:sp>
      <p:sp>
        <p:nvSpPr>
          <p:cNvPr id="6" name="Text 4"/>
          <p:cNvSpPr/>
          <p:nvPr/>
        </p:nvSpPr>
        <p:spPr>
          <a:xfrm>
            <a:off x="822960" y="2148840"/>
            <a:ext cx="10972800" cy="1463040"/>
          </a:xfrm>
          <a:prstGeom prst="rect">
            <a:avLst/>
          </a:prstGeom>
          <a:noFill/>
          <a:ln/>
        </p:spPr>
        <p:txBody>
          <a:bodyPr wrap="square" lIns="0" tIns="0" rIns="0" bIns="0" rtlCol="0" anchor="ctr"/>
          <a:lstStyle/>
          <a:p>
            <a:pPr indent="0" marL="0">
              <a:buNone/>
            </a:pPr>
            <a:r>
              <a:rPr lang="en-US" sz="2800" b="1" i="1" dirty="0">
                <a:solidFill>
                  <a:srgbClr val="F0E2C1"/>
                </a:solidFill>
                <a:latin typeface="Georgia" pitchFamily="34" charset="0"/>
                <a:ea typeface="Georgia" pitchFamily="34" charset="-122"/>
                <a:cs typeface="Georgia" pitchFamily="34" charset="-120"/>
              </a:rPr>
              <a:t>"Às vezes é óbvio quando alguém está lutando. Mas nem sempre os sinais são visíveis."</a:t>
            </a:r>
            <a:endParaRPr lang="en-US" sz="2800" dirty="0"/>
          </a:p>
        </p:txBody>
      </p:sp>
      <p:sp>
        <p:nvSpPr>
          <p:cNvPr id="7" name="Shape 5"/>
          <p:cNvSpPr/>
          <p:nvPr/>
        </p:nvSpPr>
        <p:spPr>
          <a:xfrm>
            <a:off x="822960" y="3840480"/>
            <a:ext cx="5349240" cy="2286000"/>
          </a:xfrm>
          <a:prstGeom prst="rect">
            <a:avLst/>
          </a:prstGeom>
          <a:solidFill>
            <a:srgbClr val="332A22"/>
          </a:solidFill>
          <a:ln w="12700">
            <a:solidFill>
              <a:srgbClr val="2A221B"/>
            </a:solidFill>
            <a:prstDash val="solid"/>
          </a:ln>
        </p:spPr>
      </p:sp>
      <p:sp>
        <p:nvSpPr>
          <p:cNvPr id="8" name="Text 6"/>
          <p:cNvSpPr/>
          <p:nvPr/>
        </p:nvSpPr>
        <p:spPr>
          <a:xfrm>
            <a:off x="1051560" y="3977640"/>
            <a:ext cx="489204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01  •  A MÚSICA</a:t>
            </a:r>
            <a:endParaRPr lang="en-US" sz="1000" dirty="0"/>
          </a:p>
        </p:txBody>
      </p:sp>
      <p:sp>
        <p:nvSpPr>
          <p:cNvPr id="9" name="Text 7"/>
          <p:cNvSpPr/>
          <p:nvPr/>
        </p:nvSpPr>
        <p:spPr>
          <a:xfrm>
            <a:off x="1051560" y="4251960"/>
            <a:ext cx="4892040" cy="365760"/>
          </a:xfrm>
          <a:prstGeom prst="rect">
            <a:avLst/>
          </a:prstGeom>
          <a:noFill/>
          <a:ln/>
        </p:spPr>
        <p:txBody>
          <a:bodyPr wrap="square" lIns="0" tIns="0" rIns="0" bIns="0" rtlCol="0" anchor="ctr"/>
          <a:lstStyle/>
          <a:p>
            <a:pPr indent="0" marL="0">
              <a:buNone/>
            </a:pPr>
            <a:r>
              <a:rPr lang="en-US" sz="2000" b="1" dirty="0">
                <a:solidFill>
                  <a:srgbClr val="F0E2C1"/>
                </a:solidFill>
                <a:latin typeface="Georgia" pitchFamily="34" charset="0"/>
                <a:ea typeface="Georgia" pitchFamily="34" charset="-122"/>
                <a:cs typeface="Georgia" pitchFamily="34" charset="-120"/>
              </a:rPr>
              <a:t>"Dezesseis" — Legião Urbana</a:t>
            </a:r>
            <a:endParaRPr lang="en-US" sz="2000" dirty="0"/>
          </a:p>
        </p:txBody>
      </p:sp>
      <p:sp>
        <p:nvSpPr>
          <p:cNvPr id="10" name="Text 8"/>
          <p:cNvSpPr/>
          <p:nvPr/>
        </p:nvSpPr>
        <p:spPr>
          <a:xfrm>
            <a:off x="1051560" y="4663440"/>
            <a:ext cx="4892040" cy="1371600"/>
          </a:xfrm>
          <a:prstGeom prst="rect">
            <a:avLst/>
          </a:prstGeom>
          <a:noFill/>
          <a:ln/>
        </p:spPr>
        <p:txBody>
          <a:bodyPr wrap="square" lIns="0" tIns="0" rIns="0" bIns="0" rtlCol="0" anchor="ctr"/>
          <a:lstStyle/>
          <a:p>
            <a:pPr indent="0" marL="0">
              <a:buNone/>
            </a:pPr>
            <a:r>
              <a:rPr lang="en-US" sz="1200" dirty="0">
                <a:solidFill>
                  <a:srgbClr val="C9B68A"/>
                </a:solidFill>
                <a:latin typeface="Calibri" pitchFamily="34" charset="0"/>
                <a:ea typeface="Calibri" pitchFamily="34" charset="-122"/>
                <a:cs typeface="Calibri" pitchFamily="34" charset="-120"/>
              </a:rPr>
              <a:t>João Roberto, 16, "rei dos pegas" da Asa Sul, Opala azul metálico, Curva do Diabo em Sobradinho. A letra sugere: não foi o caminhão, foi "um coração partido". O jogo herda o cenário, o personagem e a premissa. A música é a licença emocional do projeto — sem ela, nada existe.</a:t>
            </a:r>
            <a:endParaRPr lang="en-US" sz="1200" dirty="0"/>
          </a:p>
        </p:txBody>
      </p:sp>
      <p:sp>
        <p:nvSpPr>
          <p:cNvPr id="11" name="Shape 9"/>
          <p:cNvSpPr/>
          <p:nvPr/>
        </p:nvSpPr>
        <p:spPr>
          <a:xfrm>
            <a:off x="6446520" y="3840480"/>
            <a:ext cx="5349240" cy="2286000"/>
          </a:xfrm>
          <a:prstGeom prst="rect">
            <a:avLst/>
          </a:prstGeom>
          <a:solidFill>
            <a:srgbClr val="332A22"/>
          </a:solidFill>
          <a:ln w="12700">
            <a:solidFill>
              <a:srgbClr val="2A221B"/>
            </a:solidFill>
            <a:prstDash val="solid"/>
          </a:ln>
        </p:spPr>
      </p:sp>
      <p:sp>
        <p:nvSpPr>
          <p:cNvPr id="12" name="Text 10"/>
          <p:cNvSpPr/>
          <p:nvPr/>
        </p:nvSpPr>
        <p:spPr>
          <a:xfrm>
            <a:off x="6675120" y="3977640"/>
            <a:ext cx="4892040" cy="274320"/>
          </a:xfrm>
          <a:prstGeom prst="rect">
            <a:avLst/>
          </a:prstGeom>
          <a:noFill/>
          <a:ln/>
        </p:spPr>
        <p:txBody>
          <a:bodyPr wrap="square" lIns="0" tIns="0" rIns="0" bIns="0" rtlCol="0" anchor="ctr"/>
          <a:lstStyle/>
          <a:p>
            <a:pPr indent="0" marL="0">
              <a:buNone/>
            </a:pPr>
            <a:r>
              <a:rPr lang="en-US" sz="1000" b="1" spc="400" kern="0" dirty="0">
                <a:solidFill>
                  <a:srgbClr val="B22222"/>
                </a:solidFill>
                <a:latin typeface="Calibri" pitchFamily="34" charset="0"/>
                <a:ea typeface="Calibri" pitchFamily="34" charset="-122"/>
                <a:cs typeface="Calibri" pitchFamily="34" charset="-120"/>
              </a:rPr>
              <a:t>02  •  O VÍDEO</a:t>
            </a:r>
            <a:endParaRPr lang="en-US" sz="1000" dirty="0"/>
          </a:p>
        </p:txBody>
      </p:sp>
      <p:sp>
        <p:nvSpPr>
          <p:cNvPr id="13" name="Text 11"/>
          <p:cNvSpPr/>
          <p:nvPr/>
        </p:nvSpPr>
        <p:spPr>
          <a:xfrm>
            <a:off x="6675120" y="4251960"/>
            <a:ext cx="4892040" cy="365760"/>
          </a:xfrm>
          <a:prstGeom prst="rect">
            <a:avLst/>
          </a:prstGeom>
          <a:noFill/>
          <a:ln/>
        </p:spPr>
        <p:txBody>
          <a:bodyPr wrap="square" lIns="0" tIns="0" rIns="0" bIns="0" rtlCol="0" anchor="ctr"/>
          <a:lstStyle/>
          <a:p>
            <a:pPr indent="0" marL="0">
              <a:buNone/>
            </a:pPr>
            <a:r>
              <a:rPr lang="en-US" sz="2000" b="1" dirty="0">
                <a:solidFill>
                  <a:srgbClr val="F0E2C1"/>
                </a:solidFill>
                <a:latin typeface="Georgia" pitchFamily="34" charset="0"/>
                <a:ea typeface="Georgia" pitchFamily="34" charset="-122"/>
                <a:cs typeface="Georgia" pitchFamily="34" charset="-120"/>
              </a:rPr>
              <a:t>"Saúde Mental" — Norwich City FC</a:t>
            </a:r>
            <a:endParaRPr lang="en-US" sz="2000" dirty="0"/>
          </a:p>
        </p:txBody>
      </p:sp>
      <p:sp>
        <p:nvSpPr>
          <p:cNvPr id="14" name="Text 12"/>
          <p:cNvSpPr/>
          <p:nvPr/>
        </p:nvSpPr>
        <p:spPr>
          <a:xfrm>
            <a:off x="6675120" y="4663440"/>
            <a:ext cx="4892040" cy="1371600"/>
          </a:xfrm>
          <a:prstGeom prst="rect">
            <a:avLst/>
          </a:prstGeom>
          <a:noFill/>
          <a:ln/>
        </p:spPr>
        <p:txBody>
          <a:bodyPr wrap="square" lIns="0" tIns="0" rIns="0" bIns="0" rtlCol="0" anchor="ctr"/>
          <a:lstStyle/>
          <a:p>
            <a:pPr indent="0" marL="0">
              <a:buNone/>
            </a:pPr>
            <a:r>
              <a:rPr lang="en-US" sz="1200" dirty="0">
                <a:solidFill>
                  <a:srgbClr val="C9B68A"/>
                </a:solidFill>
                <a:latin typeface="Calibri" pitchFamily="34" charset="0"/>
                <a:ea typeface="Calibri" pitchFamily="34" charset="-122"/>
                <a:cs typeface="Calibri" pitchFamily="34" charset="-120"/>
              </a:rPr>
              <a:t>Campanha do Norwich City: dois torcedores na arquibancada. O jovem aparenta depressão; o mais velho, eufórico, tenta animá-lo. No fim, a cadeira do que sorria está vazia. Foi ele quem morreu. Esse é o blueprint da "hiperação performativa" do João — a depressão mascarada de euforia.</a:t>
            </a:r>
            <a:endParaRPr lang="en-US" sz="1200" dirty="0"/>
          </a:p>
        </p:txBody>
      </p:sp>
      <p:sp>
        <p:nvSpPr>
          <p:cNvPr id="15" name="Text 13"/>
          <p:cNvSpPr/>
          <p:nvPr/>
        </p:nvSpPr>
        <p:spPr>
          <a:xfrm>
            <a:off x="457200" y="6446520"/>
            <a:ext cx="5486400" cy="274320"/>
          </a:xfrm>
          <a:prstGeom prst="rect">
            <a:avLst/>
          </a:prstGeom>
          <a:noFill/>
          <a:ln/>
        </p:spPr>
        <p:txBody>
          <a:bodyPr wrap="square" lIns="0" tIns="0" rIns="0" bIns="0" rtlCol="0" anchor="ctr"/>
          <a:lstStyle/>
          <a:p>
            <a:pPr indent="0" marL="0">
              <a:buNone/>
            </a:pPr>
            <a:r>
              <a:rPr lang="en-US" sz="900" i="1" dirty="0">
                <a:solidFill>
                  <a:srgbClr val="C9B68A"/>
                </a:solidFill>
                <a:latin typeface="Calibri" pitchFamily="34" charset="0"/>
                <a:ea typeface="Calibri" pitchFamily="34" charset="-122"/>
                <a:cs typeface="Calibri" pitchFamily="34" charset="-120"/>
              </a:rPr>
              <a:t>Roleta Paulista — Pitch v2</a:t>
            </a:r>
            <a:endParaRPr lang="en-US" sz="900" dirty="0"/>
          </a:p>
        </p:txBody>
      </p:sp>
      <p:sp>
        <p:nvSpPr>
          <p:cNvPr id="16" name="Text 14"/>
          <p:cNvSpPr/>
          <p:nvPr/>
        </p:nvSpPr>
        <p:spPr>
          <a:xfrm>
            <a:off x="10789920" y="6446520"/>
            <a:ext cx="914400" cy="274320"/>
          </a:xfrm>
          <a:prstGeom prst="rect">
            <a:avLst/>
          </a:prstGeom>
          <a:noFill/>
          <a:ln/>
        </p:spPr>
        <p:txBody>
          <a:bodyPr wrap="square" lIns="0" tIns="0" rIns="0" bIns="0" rtlCol="0" anchor="ctr"/>
          <a:lstStyle/>
          <a:p>
            <a:pPr algn="r" indent="0" marL="0">
              <a:buNone/>
            </a:pPr>
            <a:r>
              <a:rPr lang="en-US" sz="900" i="1" dirty="0">
                <a:solidFill>
                  <a:srgbClr val="C9B68A"/>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Coreto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Roleta Paulista — Pitch v2</dc:title>
  <dc:subject>PptxGenJS Presentation</dc:subject>
  <dc:creator>Edney</dc:creator>
  <cp:lastModifiedBy>Edney</cp:lastModifiedBy>
  <cp:revision>1</cp:revision>
  <dcterms:created xsi:type="dcterms:W3CDTF">2026-06-16T14:31:00Z</dcterms:created>
  <dcterms:modified xsi:type="dcterms:W3CDTF">2026-06-16T14:31:00Z</dcterms:modified>
</cp:coreProperties>
</file>